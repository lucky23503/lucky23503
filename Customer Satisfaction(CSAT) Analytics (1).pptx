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embeddedFontLst>
    <p:embeddedFont>
      <p:font typeface="Gill Sans"/>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h/qKCjnEb1t9WUsNGhWPC2MHtp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GillSans-bold.fntdata"/><Relationship Id="rId6" Type="http://schemas.openxmlformats.org/officeDocument/2006/relationships/slide" Target="slides/slide2.xml"/><Relationship Id="rId18" Type="http://schemas.openxmlformats.org/officeDocument/2006/relationships/font" Target="fonts/GillSans-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15"/>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lvl1pPr lvl="0" algn="l">
              <a:lnSpc>
                <a:spcPct val="90000"/>
              </a:lnSpc>
              <a:spcBef>
                <a:spcPts val="0"/>
              </a:spcBef>
              <a:spcAft>
                <a:spcPts val="0"/>
              </a:spcAft>
              <a:buClr>
                <a:schemeClr val="dk1"/>
              </a:buClr>
              <a:buSzPts val="6600"/>
              <a:buFont typeface="Gill Sans"/>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5"/>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lvl1pPr lvl="0" algn="l">
              <a:lnSpc>
                <a:spcPct val="120000"/>
              </a:lnSpc>
              <a:spcBef>
                <a:spcPts val="1000"/>
              </a:spcBef>
              <a:spcAft>
                <a:spcPts val="0"/>
              </a:spcAft>
              <a:buSzPts val="1800"/>
              <a:buNone/>
              <a:defRPr b="0" sz="1800" cap="none">
                <a:solidFill>
                  <a:schemeClr val="dk1"/>
                </a:solidFill>
              </a:defRPr>
            </a:lvl1pPr>
            <a:lvl2pPr lvl="1" algn="ctr">
              <a:lnSpc>
                <a:spcPct val="120000"/>
              </a:lnSpc>
              <a:spcBef>
                <a:spcPts val="500"/>
              </a:spcBef>
              <a:spcAft>
                <a:spcPts val="0"/>
              </a:spcAft>
              <a:buSzPts val="1800"/>
              <a:buNone/>
              <a:defRPr sz="18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p:txBody>
      </p:sp>
      <p:sp>
        <p:nvSpPr>
          <p:cNvPr id="17" name="Google Shape;17;p15"/>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5"/>
          <p:cNvSpPr txBox="1"/>
          <p:nvPr>
            <p:ph idx="11" type="ftr"/>
          </p:nvPr>
        </p:nvSpPr>
        <p:spPr>
          <a:xfrm>
            <a:off x="2416500" y="329307"/>
            <a:ext cx="4973915"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idx="12" type="sldNum"/>
          </p:nvPr>
        </p:nvSpPr>
        <p:spPr>
          <a:xfrm>
            <a:off x="1437664"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0" name="Google Shape;20;p15"/>
          <p:cNvCxnSpPr/>
          <p:nvPr/>
        </p:nvCxnSpPr>
        <p:spPr>
          <a:xfrm>
            <a:off x="2417780" y="3528542"/>
            <a:ext cx="863707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16"/>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6"/>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6"/>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7"/>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7"/>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28" name="Google Shape;28;p17"/>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7"/>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7"/>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31" name="Google Shape;31;p17"/>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18"/>
          <p:cNvSpPr txBox="1"/>
          <p:nvPr>
            <p:ph type="title"/>
          </p:nvPr>
        </p:nvSpPr>
        <p:spPr>
          <a:xfrm>
            <a:off x="1454239" y="1756130"/>
            <a:ext cx="8643154" cy="18879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8"/>
          <p:cNvSpPr txBox="1"/>
          <p:nvPr>
            <p:ph idx="1" type="body"/>
          </p:nvPr>
        </p:nvSpPr>
        <p:spPr>
          <a:xfrm>
            <a:off x="1454239" y="3806195"/>
            <a:ext cx="8630446" cy="1012929"/>
          </a:xfrm>
          <a:prstGeom prst="rect">
            <a:avLst/>
          </a:prstGeom>
          <a:noFill/>
          <a:ln>
            <a:noFill/>
          </a:ln>
        </p:spPr>
        <p:txBody>
          <a:bodyPr anchorCtr="0" anchor="t" bIns="45700" lIns="91425" spcFirstLastPara="1" rIns="91425" wrap="square" tIns="91425">
            <a:normAutofit/>
          </a:bodyPr>
          <a:lstStyle>
            <a:lvl1pPr indent="-228600" lvl="0" marL="457200" algn="l">
              <a:lnSpc>
                <a:spcPct val="120000"/>
              </a:lnSpc>
              <a:spcBef>
                <a:spcPts val="1000"/>
              </a:spcBef>
              <a:spcAft>
                <a:spcPts val="0"/>
              </a:spcAft>
              <a:buSzPts val="1800"/>
              <a:buNone/>
              <a:defRPr sz="1800">
                <a:solidFill>
                  <a:schemeClr val="dk1"/>
                </a:solidFill>
              </a:defRPr>
            </a:lvl1pPr>
            <a:lvl2pPr indent="-228600" lvl="1" marL="914400" algn="l">
              <a:lnSpc>
                <a:spcPct val="120000"/>
              </a:lnSpc>
              <a:spcBef>
                <a:spcPts val="500"/>
              </a:spcBef>
              <a:spcAft>
                <a:spcPts val="0"/>
              </a:spcAft>
              <a:buSzPts val="1800"/>
              <a:buNone/>
              <a:defRPr sz="1800">
                <a:solidFill>
                  <a:srgbClr val="888888"/>
                </a:solidFill>
              </a:defRPr>
            </a:lvl2pPr>
            <a:lvl3pPr indent="-228600" lvl="2" marL="1371600" algn="l">
              <a:lnSpc>
                <a:spcPct val="120000"/>
              </a:lnSpc>
              <a:spcBef>
                <a:spcPts val="500"/>
              </a:spcBef>
              <a:spcAft>
                <a:spcPts val="0"/>
              </a:spcAft>
              <a:buSzPts val="1800"/>
              <a:buNone/>
              <a:defRPr sz="1800">
                <a:solidFill>
                  <a:srgbClr val="888888"/>
                </a:solidFill>
              </a:defRPr>
            </a:lvl3pPr>
            <a:lvl4pPr indent="-228600" lvl="3" marL="1828800" algn="l">
              <a:lnSpc>
                <a:spcPct val="120000"/>
              </a:lnSpc>
              <a:spcBef>
                <a:spcPts val="500"/>
              </a:spcBef>
              <a:spcAft>
                <a:spcPts val="0"/>
              </a:spcAft>
              <a:buSzPts val="1600"/>
              <a:buNone/>
              <a:defRPr sz="1600">
                <a:solidFill>
                  <a:srgbClr val="888888"/>
                </a:solidFill>
              </a:defRPr>
            </a:lvl4pPr>
            <a:lvl5pPr indent="-228600" lvl="4" marL="2286000" algn="l">
              <a:lnSpc>
                <a:spcPct val="120000"/>
              </a:lnSpc>
              <a:spcBef>
                <a:spcPts val="500"/>
              </a:spcBef>
              <a:spcAft>
                <a:spcPts val="0"/>
              </a:spcAft>
              <a:buSzPts val="1600"/>
              <a:buNone/>
              <a:defRPr sz="1600">
                <a:solidFill>
                  <a:srgbClr val="888888"/>
                </a:solidFill>
              </a:defRPr>
            </a:lvl5pPr>
            <a:lvl6pPr indent="-228600" lvl="5" marL="2743200" algn="l">
              <a:lnSpc>
                <a:spcPct val="120000"/>
              </a:lnSpc>
              <a:spcBef>
                <a:spcPts val="500"/>
              </a:spcBef>
              <a:spcAft>
                <a:spcPts val="0"/>
              </a:spcAft>
              <a:buSzPts val="1600"/>
              <a:buNone/>
              <a:defRPr sz="1600">
                <a:solidFill>
                  <a:srgbClr val="888888"/>
                </a:solidFill>
              </a:defRPr>
            </a:lvl6pPr>
            <a:lvl7pPr indent="-228600" lvl="6" marL="3200400" algn="l">
              <a:lnSpc>
                <a:spcPct val="120000"/>
              </a:lnSpc>
              <a:spcBef>
                <a:spcPts val="500"/>
              </a:spcBef>
              <a:spcAft>
                <a:spcPts val="0"/>
              </a:spcAft>
              <a:buSzPts val="1600"/>
              <a:buNone/>
              <a:defRPr sz="1600">
                <a:solidFill>
                  <a:srgbClr val="888888"/>
                </a:solidFill>
              </a:defRPr>
            </a:lvl7pPr>
            <a:lvl8pPr indent="-228600" lvl="7" marL="3657600" algn="l">
              <a:lnSpc>
                <a:spcPct val="120000"/>
              </a:lnSpc>
              <a:spcBef>
                <a:spcPts val="500"/>
              </a:spcBef>
              <a:spcAft>
                <a:spcPts val="0"/>
              </a:spcAft>
              <a:buSzPts val="1600"/>
              <a:buNone/>
              <a:defRPr sz="1600">
                <a:solidFill>
                  <a:srgbClr val="888888"/>
                </a:solidFill>
              </a:defRPr>
            </a:lvl8pPr>
            <a:lvl9pPr indent="-228600" lvl="8" marL="4114800" algn="l">
              <a:lnSpc>
                <a:spcPct val="120000"/>
              </a:lnSpc>
              <a:spcBef>
                <a:spcPts val="500"/>
              </a:spcBef>
              <a:spcAft>
                <a:spcPts val="0"/>
              </a:spcAft>
              <a:buSzPts val="1600"/>
              <a:buNone/>
              <a:defRPr sz="1600">
                <a:solidFill>
                  <a:srgbClr val="888888"/>
                </a:solidFill>
              </a:defRPr>
            </a:lvl9pPr>
          </a:lstStyle>
          <a:p/>
        </p:txBody>
      </p:sp>
      <p:sp>
        <p:nvSpPr>
          <p:cNvPr id="35" name="Google Shape;35;p18"/>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8"/>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8"/>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38" name="Google Shape;38;p18"/>
          <p:cNvCxnSpPr/>
          <p:nvPr/>
        </p:nvCxnSpPr>
        <p:spPr>
          <a:xfrm>
            <a:off x="1454239" y="3804985"/>
            <a:ext cx="8630446"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19"/>
          <p:cNvSpPr txBox="1"/>
          <p:nvPr>
            <p:ph type="title"/>
          </p:nvPr>
        </p:nvSpPr>
        <p:spPr>
          <a:xfrm>
            <a:off x="1449217" y="804889"/>
            <a:ext cx="9605635" cy="105930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9"/>
          <p:cNvSpPr txBox="1"/>
          <p:nvPr>
            <p:ph idx="1" type="body"/>
          </p:nvPr>
        </p:nvSpPr>
        <p:spPr>
          <a:xfrm>
            <a:off x="1447331" y="2010878"/>
            <a:ext cx="4645152" cy="344859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2" name="Google Shape;42;p19"/>
          <p:cNvSpPr txBox="1"/>
          <p:nvPr>
            <p:ph idx="2" type="body"/>
          </p:nvPr>
        </p:nvSpPr>
        <p:spPr>
          <a:xfrm>
            <a:off x="6413771" y="2017343"/>
            <a:ext cx="4645152" cy="344152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3" name="Google Shape;43;p19"/>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9"/>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9"/>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6" name="Google Shape;46;p19"/>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20"/>
          <p:cNvSpPr txBox="1"/>
          <p:nvPr>
            <p:ph type="title"/>
          </p:nvPr>
        </p:nvSpPr>
        <p:spPr>
          <a:xfrm>
            <a:off x="1447191" y="804163"/>
            <a:ext cx="9607661" cy="105631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20"/>
          <p:cNvSpPr txBox="1"/>
          <p:nvPr>
            <p:ph idx="1" type="body"/>
          </p:nvPr>
        </p:nvSpPr>
        <p:spPr>
          <a:xfrm>
            <a:off x="1447191" y="2019549"/>
            <a:ext cx="4645152" cy="801943"/>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0" name="Google Shape;50;p20"/>
          <p:cNvSpPr txBox="1"/>
          <p:nvPr>
            <p:ph idx="2" type="body"/>
          </p:nvPr>
        </p:nvSpPr>
        <p:spPr>
          <a:xfrm>
            <a:off x="1447191" y="2824269"/>
            <a:ext cx="4645152" cy="264445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1" name="Google Shape;51;p20"/>
          <p:cNvSpPr txBox="1"/>
          <p:nvPr>
            <p:ph idx="3" type="body"/>
          </p:nvPr>
        </p:nvSpPr>
        <p:spPr>
          <a:xfrm>
            <a:off x="6412362" y="2023003"/>
            <a:ext cx="4645152" cy="80223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2" name="Google Shape;52;p20"/>
          <p:cNvSpPr txBox="1"/>
          <p:nvPr>
            <p:ph idx="4" type="body"/>
          </p:nvPr>
        </p:nvSpPr>
        <p:spPr>
          <a:xfrm>
            <a:off x="6412362" y="2821491"/>
            <a:ext cx="4645152" cy="263737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3" name="Google Shape;53;p20"/>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0"/>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56" name="Google Shape;56;p20"/>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2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21"/>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1"/>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62" name="Google Shape;62;p21"/>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3" name="Shape 63"/>
        <p:cNvGrpSpPr/>
        <p:nvPr/>
      </p:nvGrpSpPr>
      <p:grpSpPr>
        <a:xfrm>
          <a:off x="0" y="0"/>
          <a:ext cx="0" cy="0"/>
          <a:chOff x="0" y="0"/>
          <a:chExt cx="0" cy="0"/>
        </a:xfrm>
      </p:grpSpPr>
      <p:sp>
        <p:nvSpPr>
          <p:cNvPr id="64" name="Google Shape;64;p22"/>
          <p:cNvSpPr txBox="1"/>
          <p:nvPr>
            <p:ph type="title"/>
          </p:nvPr>
        </p:nvSpPr>
        <p:spPr>
          <a:xfrm>
            <a:off x="1444671" y="798973"/>
            <a:ext cx="3273099" cy="22471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Gill San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22"/>
          <p:cNvSpPr txBox="1"/>
          <p:nvPr>
            <p:ph idx="1" type="body"/>
          </p:nvPr>
        </p:nvSpPr>
        <p:spPr>
          <a:xfrm>
            <a:off x="5043714" y="798974"/>
            <a:ext cx="6012470" cy="4658826"/>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66" name="Google Shape;66;p22"/>
          <p:cNvSpPr txBox="1"/>
          <p:nvPr>
            <p:ph idx="2" type="body"/>
          </p:nvPr>
        </p:nvSpPr>
        <p:spPr>
          <a:xfrm>
            <a:off x="1444671" y="3205491"/>
            <a:ext cx="3275013" cy="2248181"/>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67" name="Google Shape;67;p22"/>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2"/>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2"/>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70" name="Google Shape;70;p22"/>
          <p:cNvCxnSpPr/>
          <p:nvPr/>
        </p:nvCxnSpPr>
        <p:spPr>
          <a:xfrm>
            <a:off x="1448280" y="3205491"/>
            <a:ext cx="3269490"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grpSp>
        <p:nvGrpSpPr>
          <p:cNvPr id="72" name="Google Shape;72;p23"/>
          <p:cNvGrpSpPr/>
          <p:nvPr/>
        </p:nvGrpSpPr>
        <p:grpSpPr>
          <a:xfrm>
            <a:off x="7477387" y="482170"/>
            <a:ext cx="4074533" cy="5149101"/>
            <a:chOff x="7477387" y="482170"/>
            <a:chExt cx="4074533" cy="5149101"/>
          </a:xfrm>
        </p:grpSpPr>
        <p:sp>
          <p:nvSpPr>
            <p:cNvPr id="73" name="Google Shape;73;p23"/>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sx="98000" rotWithShape="0" algn="tl" dir="4740000" dist="228600" sy="98000">
                <a:srgbClr val="000000">
                  <a:alpha val="3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3"/>
            <p:cNvSpPr/>
            <p:nvPr/>
          </p:nvSpPr>
          <p:spPr>
            <a:xfrm>
              <a:off x="7790446" y="812506"/>
              <a:ext cx="3450289" cy="4466452"/>
            </a:xfrm>
            <a:prstGeom prst="rect">
              <a:avLst/>
            </a:prstGeom>
            <a:gradFill>
              <a:gsLst>
                <a:gs pos="0">
                  <a:srgbClr val="DADADA"/>
                </a:gs>
                <a:gs pos="100000">
                  <a:srgbClr val="FFFFFE"/>
                </a:gs>
              </a:gsLst>
              <a:lin ang="16200000" scaled="0"/>
            </a:gradFill>
            <a:ln cap="flat" cmpd="sng" w="50800">
              <a:solidFill>
                <a:srgbClr val="191919"/>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 name="Google Shape;75;p23"/>
          <p:cNvSpPr txBox="1"/>
          <p:nvPr>
            <p:ph type="title"/>
          </p:nvPr>
        </p:nvSpPr>
        <p:spPr>
          <a:xfrm>
            <a:off x="1451206" y="1129513"/>
            <a:ext cx="5532328" cy="18305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3"/>
          <p:cNvSpPr/>
          <p:nvPr>
            <p:ph idx="2" type="pic"/>
          </p:nvPr>
        </p:nvSpPr>
        <p:spPr>
          <a:xfrm>
            <a:off x="8124389" y="1122542"/>
            <a:ext cx="2791171" cy="3866327"/>
          </a:xfrm>
          <a:prstGeom prst="rect">
            <a:avLst/>
          </a:prstGeom>
          <a:solidFill>
            <a:srgbClr val="D8D8D8"/>
          </a:solidFill>
          <a:ln>
            <a:noFill/>
          </a:ln>
        </p:spPr>
      </p:sp>
      <p:sp>
        <p:nvSpPr>
          <p:cNvPr id="77" name="Google Shape;77;p23"/>
          <p:cNvSpPr txBox="1"/>
          <p:nvPr>
            <p:ph idx="1" type="body"/>
          </p:nvPr>
        </p:nvSpPr>
        <p:spPr>
          <a:xfrm>
            <a:off x="1450329" y="3145992"/>
            <a:ext cx="5524404" cy="200374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800"/>
              <a:buNone/>
              <a:defRPr sz="18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78" name="Google Shape;78;p23"/>
          <p:cNvSpPr txBox="1"/>
          <p:nvPr>
            <p:ph idx="10" type="dt"/>
          </p:nvPr>
        </p:nvSpPr>
        <p:spPr>
          <a:xfrm>
            <a:off x="1447382" y="5469856"/>
            <a:ext cx="5527351" cy="32012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3"/>
          <p:cNvSpPr txBox="1"/>
          <p:nvPr>
            <p:ph idx="11" type="ftr"/>
          </p:nvPr>
        </p:nvSpPr>
        <p:spPr>
          <a:xfrm>
            <a:off x="1447382" y="318640"/>
            <a:ext cx="5541004" cy="32093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3"/>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81" name="Google Shape;81;p23"/>
          <p:cNvCxnSpPr/>
          <p:nvPr/>
        </p:nvCxnSpPr>
        <p:spPr>
          <a:xfrm>
            <a:off x="1447382" y="3143605"/>
            <a:ext cx="5527351"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2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24"/>
          <p:cNvSpPr txBox="1"/>
          <p:nvPr>
            <p:ph idx="1" type="body"/>
          </p:nvPr>
        </p:nvSpPr>
        <p:spPr>
          <a:xfrm rot="5400000">
            <a:off x="4527910" y="-1060599"/>
            <a:ext cx="3450613" cy="960327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85" name="Google Shape;85;p24"/>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4"/>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4"/>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88" name="Google Shape;88;p24"/>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9" name="Shape 89"/>
        <p:cNvGrpSpPr/>
        <p:nvPr/>
      </p:nvGrpSpPr>
      <p:grpSpPr>
        <a:xfrm>
          <a:off x="0" y="0"/>
          <a:ext cx="0" cy="0"/>
          <a:chOff x="0" y="0"/>
          <a:chExt cx="0" cy="0"/>
        </a:xfrm>
      </p:grpSpPr>
      <p:sp>
        <p:nvSpPr>
          <p:cNvPr id="90" name="Google Shape;90;p25"/>
          <p:cNvSpPr txBox="1"/>
          <p:nvPr>
            <p:ph type="title"/>
          </p:nvPr>
        </p:nvSpPr>
        <p:spPr>
          <a:xfrm rot="5400000">
            <a:off x="7917038" y="2321047"/>
            <a:ext cx="4659889" cy="161574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25"/>
          <p:cNvSpPr txBox="1"/>
          <p:nvPr>
            <p:ph idx="1" type="body"/>
          </p:nvPr>
        </p:nvSpPr>
        <p:spPr>
          <a:xfrm rot="5400000">
            <a:off x="3029143" y="-785498"/>
            <a:ext cx="4659889" cy="782883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92" name="Google Shape;92;p25"/>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5"/>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5"/>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95" name="Google Shape;95;p25"/>
          <p:cNvCxnSpPr/>
          <p:nvPr/>
        </p:nvCxnSpPr>
        <p:spPr>
          <a:xfrm>
            <a:off x="9439111" y="798973"/>
            <a:ext cx="0" cy="4659889"/>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BE9E6"/>
            </a:gs>
            <a:gs pos="100000">
              <a:srgbClr val="C9C5C0"/>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14"/>
          <p:cNvSpPr/>
          <p:nvPr/>
        </p:nvSpPr>
        <p:spPr>
          <a:xfrm>
            <a:off x="0" y="2019476"/>
            <a:ext cx="12192000" cy="4105941"/>
          </a:xfrm>
          <a:prstGeom prst="rect">
            <a:avLst/>
          </a:prstGeom>
          <a:gradFill>
            <a:gsLst>
              <a:gs pos="0">
                <a:srgbClr val="DFDBD5">
                  <a:alpha val="0"/>
                </a:srgbClr>
              </a:gs>
              <a:gs pos="100000">
                <a:schemeClr val="lt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 name="Google Shape;7;p14"/>
          <p:cNvPicPr preferRelativeResize="0"/>
          <p:nvPr/>
        </p:nvPicPr>
        <p:blipFill rotWithShape="1">
          <a:blip r:embed="rId1">
            <a:alphaModFix/>
          </a:blip>
          <a:srcRect b="-1538" l="0" r="0" t="1538"/>
          <a:stretch/>
        </p:blipFill>
        <p:spPr>
          <a:xfrm>
            <a:off x="0" y="6126480"/>
            <a:ext cx="12192000" cy="742950"/>
          </a:xfrm>
          <a:prstGeom prst="rect">
            <a:avLst/>
          </a:prstGeom>
          <a:noFill/>
          <a:ln>
            <a:noFill/>
          </a:ln>
        </p:spPr>
      </p:pic>
      <p:sp>
        <p:nvSpPr>
          <p:cNvPr id="8" name="Google Shape;8;p1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Gill Sans"/>
              <a:buNone/>
              <a:defRPr b="0" i="0" sz="3200" u="none" cap="none" strike="noStrik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4"/>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0"/>
              </a:spcBef>
              <a:spcAft>
                <a:spcPts val="0"/>
              </a:spcAft>
              <a:buClr>
                <a:schemeClr val="accent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20000"/>
              </a:lnSpc>
              <a:spcBef>
                <a:spcPts val="500"/>
              </a:spcBef>
              <a:spcAft>
                <a:spcPts val="0"/>
              </a:spcAft>
              <a:buClr>
                <a:schemeClr val="accent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20000"/>
              </a:lnSpc>
              <a:spcBef>
                <a:spcPts val="500"/>
              </a:spcBef>
              <a:spcAft>
                <a:spcPts val="0"/>
              </a:spcAft>
              <a:buClr>
                <a:schemeClr val="accent1"/>
              </a:buClr>
              <a:buSzPts val="1600"/>
              <a:buFont typeface="Arial"/>
              <a:buChar char="•"/>
              <a:defRPr b="0" i="0" sz="1600" u="none" cap="none" strike="noStrike">
                <a:solidFill>
                  <a:schemeClr val="dk1"/>
                </a:solidFill>
                <a:latin typeface="Gill Sans"/>
                <a:ea typeface="Gill Sans"/>
                <a:cs typeface="Gill Sans"/>
                <a:sym typeface="Gill Sans"/>
              </a:defRPr>
            </a:lvl3pPr>
            <a:lvl4pPr indent="-317500" lvl="3" marL="1828800" marR="0" rtl="0" algn="l">
              <a:lnSpc>
                <a:spcPct val="120000"/>
              </a:lnSpc>
              <a:spcBef>
                <a:spcPts val="500"/>
              </a:spcBef>
              <a:spcAft>
                <a:spcPts val="0"/>
              </a:spcAft>
              <a:buClr>
                <a:schemeClr val="accent1"/>
              </a:buClr>
              <a:buSzPts val="1400"/>
              <a:buFont typeface="Arial"/>
              <a:buChar char="•"/>
              <a:defRPr b="0" i="0" sz="1400" u="none" cap="none" strike="noStrike">
                <a:solidFill>
                  <a:schemeClr val="dk1"/>
                </a:solidFill>
                <a:latin typeface="Gill Sans"/>
                <a:ea typeface="Gill Sans"/>
                <a:cs typeface="Gill Sans"/>
                <a:sym typeface="Gill Sans"/>
              </a:defRPr>
            </a:lvl4pPr>
            <a:lvl5pPr indent="-304800" lvl="4" marL="22860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5pPr>
            <a:lvl6pPr indent="-304800" lvl="5" marL="27432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6pPr>
            <a:lvl7pPr indent="-304800" lvl="6" marL="32004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7pPr>
            <a:lvl8pPr indent="-304800" lvl="7" marL="36576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8pPr>
            <a:lvl9pPr indent="-304800" lvl="8" marL="41148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9pPr>
          </a:lstStyle>
          <a:p/>
        </p:txBody>
      </p:sp>
      <p:sp>
        <p:nvSpPr>
          <p:cNvPr id="10" name="Google Shape;10;p14"/>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1" name="Google Shape;11;p14"/>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2" name="Google Shape;12;p14"/>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2800" u="none" cap="none" strike="noStrike">
                <a:solidFill>
                  <a:schemeClr val="accent1"/>
                </a:solidFill>
                <a:latin typeface="Gill Sans"/>
                <a:ea typeface="Gill Sans"/>
                <a:cs typeface="Gill Sans"/>
                <a:sym typeface="Gill Sans"/>
              </a:defRPr>
            </a:lvl1pPr>
            <a:lvl2pPr indent="0" lvl="1" marL="0" marR="0" rtl="0" algn="r">
              <a:spcBef>
                <a:spcPts val="0"/>
              </a:spcBef>
              <a:buNone/>
              <a:defRPr b="0" i="0" sz="2800" u="none" cap="none" strike="noStrike">
                <a:solidFill>
                  <a:schemeClr val="accent1"/>
                </a:solidFill>
                <a:latin typeface="Gill Sans"/>
                <a:ea typeface="Gill Sans"/>
                <a:cs typeface="Gill Sans"/>
                <a:sym typeface="Gill Sans"/>
              </a:defRPr>
            </a:lvl2pPr>
            <a:lvl3pPr indent="0" lvl="2" marL="0" marR="0" rtl="0" algn="r">
              <a:spcBef>
                <a:spcPts val="0"/>
              </a:spcBef>
              <a:buNone/>
              <a:defRPr b="0" i="0" sz="2800" u="none" cap="none" strike="noStrike">
                <a:solidFill>
                  <a:schemeClr val="accent1"/>
                </a:solidFill>
                <a:latin typeface="Gill Sans"/>
                <a:ea typeface="Gill Sans"/>
                <a:cs typeface="Gill Sans"/>
                <a:sym typeface="Gill Sans"/>
              </a:defRPr>
            </a:lvl3pPr>
            <a:lvl4pPr indent="0" lvl="3" marL="0" marR="0" rtl="0" algn="r">
              <a:spcBef>
                <a:spcPts val="0"/>
              </a:spcBef>
              <a:buNone/>
              <a:defRPr b="0" i="0" sz="2800" u="none" cap="none" strike="noStrike">
                <a:solidFill>
                  <a:schemeClr val="accent1"/>
                </a:solidFill>
                <a:latin typeface="Gill Sans"/>
                <a:ea typeface="Gill Sans"/>
                <a:cs typeface="Gill Sans"/>
                <a:sym typeface="Gill Sans"/>
              </a:defRPr>
            </a:lvl4pPr>
            <a:lvl5pPr indent="0" lvl="4" marL="0" marR="0" rtl="0" algn="r">
              <a:spcBef>
                <a:spcPts val="0"/>
              </a:spcBef>
              <a:buNone/>
              <a:defRPr b="0" i="0" sz="2800" u="none" cap="none" strike="noStrike">
                <a:solidFill>
                  <a:schemeClr val="accent1"/>
                </a:solidFill>
                <a:latin typeface="Gill Sans"/>
                <a:ea typeface="Gill Sans"/>
                <a:cs typeface="Gill Sans"/>
                <a:sym typeface="Gill Sans"/>
              </a:defRPr>
            </a:lvl5pPr>
            <a:lvl6pPr indent="0" lvl="5" marL="0" marR="0" rtl="0" algn="r">
              <a:spcBef>
                <a:spcPts val="0"/>
              </a:spcBef>
              <a:buNone/>
              <a:defRPr b="0" i="0" sz="2800" u="none" cap="none" strike="noStrike">
                <a:solidFill>
                  <a:schemeClr val="accent1"/>
                </a:solidFill>
                <a:latin typeface="Gill Sans"/>
                <a:ea typeface="Gill Sans"/>
                <a:cs typeface="Gill Sans"/>
                <a:sym typeface="Gill Sans"/>
              </a:defRPr>
            </a:lvl6pPr>
            <a:lvl7pPr indent="0" lvl="6" marL="0" marR="0" rtl="0" algn="r">
              <a:spcBef>
                <a:spcPts val="0"/>
              </a:spcBef>
              <a:buNone/>
              <a:defRPr b="0" i="0" sz="2800" u="none" cap="none" strike="noStrike">
                <a:solidFill>
                  <a:schemeClr val="accent1"/>
                </a:solidFill>
                <a:latin typeface="Gill Sans"/>
                <a:ea typeface="Gill Sans"/>
                <a:cs typeface="Gill Sans"/>
                <a:sym typeface="Gill Sans"/>
              </a:defRPr>
            </a:lvl7pPr>
            <a:lvl8pPr indent="0" lvl="7" marL="0" marR="0" rtl="0" algn="r">
              <a:spcBef>
                <a:spcPts val="0"/>
              </a:spcBef>
              <a:buNone/>
              <a:defRPr b="0" i="0" sz="2800" u="none" cap="none" strike="noStrike">
                <a:solidFill>
                  <a:schemeClr val="accent1"/>
                </a:solidFill>
                <a:latin typeface="Gill Sans"/>
                <a:ea typeface="Gill Sans"/>
                <a:cs typeface="Gill Sans"/>
                <a:sym typeface="Gill Sans"/>
              </a:defRPr>
            </a:lvl8pPr>
            <a:lvl9pPr indent="0" lvl="8" marL="0" marR="0" rtl="0" algn="r">
              <a:spcBef>
                <a:spcPts val="0"/>
              </a:spcBef>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cxnSp>
        <p:nvCxnSpPr>
          <p:cNvPr id="13" name="Google Shape;13;p14"/>
          <p:cNvCxnSpPr/>
          <p:nvPr/>
        </p:nvCxnSpPr>
        <p:spPr>
          <a:xfrm>
            <a:off x="0" y="6128413"/>
            <a:ext cx="12192000" cy="0"/>
          </a:xfrm>
          <a:prstGeom prst="straightConnector1">
            <a:avLst/>
          </a:prstGeom>
          <a:noFill/>
          <a:ln cap="flat" cmpd="sng" w="12700">
            <a:solidFill>
              <a:srgbClr val="000001">
                <a:alpha val="20000"/>
              </a:srgbClr>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
          <p:cNvSpPr txBox="1"/>
          <p:nvPr>
            <p:ph type="ctrTitle"/>
          </p:nvPr>
        </p:nvSpPr>
        <p:spPr>
          <a:xfrm>
            <a:off x="2417780" y="749030"/>
            <a:ext cx="9255411" cy="2577766"/>
          </a:xfrm>
          <a:prstGeom prst="rect">
            <a:avLst/>
          </a:prstGeom>
          <a:solidFill>
            <a:srgbClr val="002060"/>
          </a:solidFill>
          <a:ln>
            <a:noFill/>
          </a:ln>
        </p:spPr>
        <p:txBody>
          <a:bodyPr anchorCtr="0" anchor="ctr" bIns="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Gill Sans"/>
              <a:buNone/>
            </a:pPr>
            <a:br>
              <a:rPr b="1" lang="en-US" sz="3200">
                <a:solidFill>
                  <a:schemeClr val="lt1"/>
                </a:solidFill>
              </a:rPr>
            </a:br>
            <a:br>
              <a:rPr b="1" lang="en-US" sz="3200">
                <a:solidFill>
                  <a:schemeClr val="lt1"/>
                </a:solidFill>
              </a:rPr>
            </a:br>
            <a:r>
              <a:rPr b="1" lang="en-US" sz="3200">
                <a:solidFill>
                  <a:schemeClr val="lt1"/>
                </a:solidFill>
              </a:rPr>
              <a:t>CUSTOMER SATISFACTION(CSAT) ANALYTICS</a:t>
            </a:r>
            <a:br>
              <a:rPr lang="en-US" sz="3200">
                <a:solidFill>
                  <a:schemeClr val="lt1"/>
                </a:solidFill>
              </a:rPr>
            </a:br>
            <a:r>
              <a:rPr lang="en-US" sz="2400">
                <a:solidFill>
                  <a:schemeClr val="lt1"/>
                </a:solidFill>
              </a:rPr>
              <a:t>POWER BI | SQL</a:t>
            </a:r>
            <a:br>
              <a:rPr lang="en-US" sz="3200">
                <a:solidFill>
                  <a:schemeClr val="lt1"/>
                </a:solidFill>
              </a:rPr>
            </a:br>
            <a:r>
              <a:rPr lang="en-US" sz="3200">
                <a:solidFill>
                  <a:schemeClr val="lt1"/>
                </a:solidFill>
              </a:rPr>
              <a:t>            </a:t>
            </a:r>
            <a:br>
              <a:rPr lang="en-US" sz="3600">
                <a:solidFill>
                  <a:schemeClr val="lt1"/>
                </a:solidFill>
              </a:rPr>
            </a:br>
            <a:br>
              <a:rPr lang="en-US" sz="3600">
                <a:solidFill>
                  <a:schemeClr val="lt1"/>
                </a:solidFill>
              </a:rPr>
            </a:br>
            <a:endParaRPr sz="3600">
              <a:solidFill>
                <a:schemeClr val="lt1"/>
              </a:solidFill>
            </a:endParaRPr>
          </a:p>
        </p:txBody>
      </p:sp>
      <p:sp>
        <p:nvSpPr>
          <p:cNvPr id="101" name="Google Shape;101;p1"/>
          <p:cNvSpPr txBox="1"/>
          <p:nvPr>
            <p:ph idx="1" type="subTitle"/>
          </p:nvPr>
        </p:nvSpPr>
        <p:spPr>
          <a:xfrm>
            <a:off x="2417780" y="3531204"/>
            <a:ext cx="8637072" cy="2402668"/>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20000"/>
              </a:lnSpc>
              <a:spcBef>
                <a:spcPts val="0"/>
              </a:spcBef>
              <a:spcAft>
                <a:spcPts val="0"/>
              </a:spcAft>
              <a:buSzPct val="100000"/>
              <a:buNone/>
            </a:pPr>
            <a:r>
              <a:rPr b="1" lang="en-US" sz="2000" cap="none"/>
              <a:t>Prepared by:</a:t>
            </a:r>
            <a:endParaRPr b="1" sz="2000" cap="none"/>
          </a:p>
          <a:p>
            <a:pPr indent="0" lvl="0" marL="0" rtl="0" algn="l">
              <a:lnSpc>
                <a:spcPct val="120000"/>
              </a:lnSpc>
              <a:spcBef>
                <a:spcPts val="1000"/>
              </a:spcBef>
              <a:spcAft>
                <a:spcPts val="0"/>
              </a:spcAft>
              <a:buSzPct val="100000"/>
              <a:buNone/>
            </a:pPr>
            <a:r>
              <a:rPr b="1" lang="en-US" cap="none"/>
              <a:t>	</a:t>
            </a:r>
            <a:r>
              <a:rPr b="1" lang="en-US"/>
              <a:t>M LOKESH NAIK</a:t>
            </a:r>
            <a:endParaRPr/>
          </a:p>
          <a:p>
            <a:pPr indent="0" lvl="0" marL="0" rtl="0" algn="l">
              <a:lnSpc>
                <a:spcPct val="120000"/>
              </a:lnSpc>
              <a:spcBef>
                <a:spcPts val="1000"/>
              </a:spcBef>
              <a:spcAft>
                <a:spcPts val="0"/>
              </a:spcAft>
              <a:buSzPct val="100000"/>
              <a:buNone/>
            </a:pPr>
            <a:r>
              <a:rPr b="1" lang="en-US"/>
              <a:t>	PTID-CDA-JUN-26-11205-F</a:t>
            </a:r>
            <a:endParaRPr/>
          </a:p>
          <a:p>
            <a:pPr indent="0" lvl="0" marL="0" rtl="0" algn="l">
              <a:lnSpc>
                <a:spcPct val="120000"/>
              </a:lnSpc>
              <a:spcBef>
                <a:spcPts val="1000"/>
              </a:spcBef>
              <a:spcAft>
                <a:spcPts val="0"/>
              </a:spcAft>
              <a:buSzPct val="100000"/>
              <a:buNone/>
            </a:pPr>
            <a:r>
              <a:rPr b="1" lang="en-US" cap="none"/>
              <a:t>	CDA(2</a:t>
            </a:r>
            <a:r>
              <a:rPr b="1" baseline="30000" lang="en-US" cap="none"/>
              <a:t>nd</a:t>
            </a:r>
            <a:r>
              <a:rPr b="1" lang="en-US" cap="none"/>
              <a:t> march batch)</a:t>
            </a:r>
            <a:endParaRPr/>
          </a:p>
          <a:p>
            <a:pPr indent="0" lvl="0" marL="0" rtl="0" algn="l">
              <a:lnSpc>
                <a:spcPct val="120000"/>
              </a:lnSpc>
              <a:spcBef>
                <a:spcPts val="1000"/>
              </a:spcBef>
              <a:spcAft>
                <a:spcPts val="0"/>
              </a:spcAft>
              <a:buSzPct val="100000"/>
              <a:buNone/>
            </a:pPr>
            <a:r>
              <a:rPr b="1" lang="en-US" cap="none"/>
              <a:t> 	</a:t>
            </a:r>
            <a:r>
              <a:rPr b="1" lang="en-US"/>
              <a:t>mlokeshnaik1996@gmail.com</a:t>
            </a:r>
            <a:endParaRPr b="1" cap="none">
              <a:solidFill>
                <a:srgbClr val="0C0C0C"/>
              </a:solidFill>
            </a:endParaRPr>
          </a:p>
          <a:p>
            <a:pPr indent="0" lvl="0" marL="0" rtl="0" algn="l">
              <a:lnSpc>
                <a:spcPct val="120000"/>
              </a:lnSpc>
              <a:spcBef>
                <a:spcPts val="1000"/>
              </a:spcBef>
              <a:spcAft>
                <a:spcPts val="0"/>
              </a:spcAft>
              <a:buSzPct val="100000"/>
              <a:buNone/>
            </a:pPr>
            <a:r>
              <a:t/>
            </a:r>
            <a:endParaRPr b="1" cap="non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ph idx="4294967295" type="title"/>
          </p:nvPr>
        </p:nvSpPr>
        <p:spPr>
          <a:xfrm>
            <a:off x="1574781" y="803816"/>
            <a:ext cx="9604375" cy="60605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2060"/>
              </a:buClr>
              <a:buSzPts val="2800"/>
              <a:buFont typeface="Gill Sans"/>
              <a:buNone/>
            </a:pPr>
            <a:r>
              <a:rPr b="1" lang="en-US" sz="2800" cap="none">
                <a:solidFill>
                  <a:srgbClr val="002060"/>
                </a:solidFill>
              </a:rPr>
              <a:t>Project Objective</a:t>
            </a:r>
            <a:r>
              <a:rPr lang="en-US" sz="2800" cap="none">
                <a:solidFill>
                  <a:srgbClr val="002060"/>
                </a:solidFill>
              </a:rPr>
              <a:t>:</a:t>
            </a:r>
            <a:endParaRPr/>
          </a:p>
        </p:txBody>
      </p:sp>
      <p:sp>
        <p:nvSpPr>
          <p:cNvPr id="107" name="Google Shape;107;p2"/>
          <p:cNvSpPr txBox="1"/>
          <p:nvPr>
            <p:ph idx="4294967295" type="body"/>
          </p:nvPr>
        </p:nvSpPr>
        <p:spPr>
          <a:xfrm>
            <a:off x="1662330" y="1448780"/>
            <a:ext cx="9826036" cy="1605705"/>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SzPts val="2000"/>
              <a:buNone/>
            </a:pPr>
            <a:r>
              <a:rPr lang="en-US"/>
              <a:t>     To analyse Customer Satisfaction (CSAT) data and evaluate customer experience, service quality, and agent performance using SQL and Power BI. The project aims to identify key trends and generate actionable insights to support data-driven business decisions and improve customer satisfaction.</a:t>
            </a:r>
            <a:endParaRPr/>
          </a:p>
        </p:txBody>
      </p:sp>
      <p:sp>
        <p:nvSpPr>
          <p:cNvPr id="108" name="Google Shape;108;p2"/>
          <p:cNvSpPr txBox="1"/>
          <p:nvPr/>
        </p:nvSpPr>
        <p:spPr>
          <a:xfrm>
            <a:off x="1575881" y="3608962"/>
            <a:ext cx="9603275"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002060"/>
                </a:solidFill>
                <a:latin typeface="Gill Sans"/>
                <a:ea typeface="Gill Sans"/>
                <a:cs typeface="Gill Sans"/>
                <a:sym typeface="Gill Sans"/>
              </a:rPr>
              <a:t>Goal:</a:t>
            </a:r>
            <a:endParaRPr/>
          </a:p>
          <a:p>
            <a:pPr indent="0" lvl="0" marL="0" marR="0" rtl="0" algn="l">
              <a:spcBef>
                <a:spcPts val="0"/>
              </a:spcBef>
              <a:spcAft>
                <a:spcPts val="0"/>
              </a:spcAft>
              <a:buNone/>
            </a:pPr>
            <a:r>
              <a:rPr lang="en-US" sz="1800">
                <a:solidFill>
                  <a:schemeClr val="dk1"/>
                </a:solidFill>
                <a:latin typeface="Gill Sans"/>
                <a:ea typeface="Gill Sans"/>
                <a:cs typeface="Gill Sans"/>
                <a:sym typeface="Gill Sans"/>
              </a:rPr>
              <a:t>     </a:t>
            </a:r>
            <a:r>
              <a:rPr lang="en-US" sz="2000">
                <a:solidFill>
                  <a:schemeClr val="dk1"/>
                </a:solidFill>
                <a:latin typeface="Gill Sans"/>
                <a:ea typeface="Gill Sans"/>
                <a:cs typeface="Gill Sans"/>
                <a:sym typeface="Gill Sans"/>
              </a:rPr>
              <a:t>To provide data-driven insights that help improve customer satisfaction by identifying service trends, evaluating agent performance, and monitoring key CSAT metrics. The analysis supports better decision-making to enhance customer experience and operational efficiency</a:t>
            </a:r>
            <a:r>
              <a:rPr lang="en-US" sz="1800">
                <a:solidFill>
                  <a:schemeClr val="dk1"/>
                </a:solidFill>
                <a:latin typeface="Gill Sans"/>
                <a:ea typeface="Gill Sans"/>
                <a:cs typeface="Gill Sans"/>
                <a:sym typeface="Gill Sans"/>
              </a:rPr>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
          <p:cNvSpPr txBox="1"/>
          <p:nvPr>
            <p:ph type="title"/>
          </p:nvPr>
        </p:nvSpPr>
        <p:spPr>
          <a:xfrm>
            <a:off x="1451579" y="1245140"/>
            <a:ext cx="9603275" cy="60861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B3485"/>
              </a:buClr>
              <a:buSzPts val="2800"/>
              <a:buFont typeface="Gill Sans"/>
              <a:buNone/>
            </a:pPr>
            <a:r>
              <a:rPr b="1" lang="en-US" sz="2800" cap="none">
                <a:solidFill>
                  <a:srgbClr val="2B3485"/>
                </a:solidFill>
              </a:rPr>
              <a:t>Business Problem</a:t>
            </a:r>
            <a:endParaRPr b="1" sz="2800" cap="none">
              <a:solidFill>
                <a:srgbClr val="2B3485"/>
              </a:solidFill>
            </a:endParaRPr>
          </a:p>
        </p:txBody>
      </p:sp>
      <p:sp>
        <p:nvSpPr>
          <p:cNvPr id="114" name="Google Shape;114;p3"/>
          <p:cNvSpPr txBox="1"/>
          <p:nvPr>
            <p:ph idx="1" type="body"/>
          </p:nvPr>
        </p:nvSpPr>
        <p:spPr>
          <a:xfrm>
            <a:off x="1451579" y="2054643"/>
            <a:ext cx="9603275" cy="345061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20000"/>
              </a:lnSpc>
              <a:spcBef>
                <a:spcPts val="0"/>
              </a:spcBef>
              <a:spcAft>
                <a:spcPts val="0"/>
              </a:spcAft>
              <a:buSzPct val="100000"/>
              <a:buNone/>
            </a:pPr>
            <a:r>
              <a:rPr lang="en-US" sz="2300"/>
              <a:t>The company receives customer interactions through multiple channels such as Call Center, Email, Chatbot and Web.</a:t>
            </a:r>
            <a:endParaRPr/>
          </a:p>
          <a:p>
            <a:pPr indent="0" lvl="0" marL="0" rtl="0" algn="l">
              <a:lnSpc>
                <a:spcPct val="120000"/>
              </a:lnSpc>
              <a:spcBef>
                <a:spcPts val="1000"/>
              </a:spcBef>
              <a:spcAft>
                <a:spcPts val="0"/>
              </a:spcAft>
              <a:buSzPct val="100000"/>
              <a:buNone/>
            </a:pPr>
            <a:r>
              <a:rPr lang="en-US" sz="2300"/>
              <a:t>Management wants to understand:    </a:t>
            </a:r>
            <a:endParaRPr/>
          </a:p>
          <a:p>
            <a:pPr indent="0" lvl="0" marL="0" rtl="0" algn="l">
              <a:lnSpc>
                <a:spcPct val="120000"/>
              </a:lnSpc>
              <a:spcBef>
                <a:spcPts val="1000"/>
              </a:spcBef>
              <a:spcAft>
                <a:spcPts val="0"/>
              </a:spcAft>
              <a:buSzPct val="100000"/>
              <a:buNone/>
            </a:pPr>
            <a:r>
              <a:rPr lang="en-US"/>
              <a:t>• Customer satisfaction levels</a:t>
            </a:r>
            <a:endParaRPr/>
          </a:p>
          <a:p>
            <a:pPr indent="0" lvl="0" marL="0" rtl="0" algn="l">
              <a:lnSpc>
                <a:spcPct val="120000"/>
              </a:lnSpc>
              <a:spcBef>
                <a:spcPts val="1000"/>
              </a:spcBef>
              <a:spcAft>
                <a:spcPts val="0"/>
              </a:spcAft>
              <a:buSzPct val="100000"/>
              <a:buNone/>
            </a:pPr>
            <a:r>
              <a:rPr lang="en-US"/>
              <a:t>• Customer sentiment patterns</a:t>
            </a:r>
            <a:endParaRPr/>
          </a:p>
          <a:p>
            <a:pPr indent="0" lvl="0" marL="0" rtl="0" algn="l">
              <a:lnSpc>
                <a:spcPct val="120000"/>
              </a:lnSpc>
              <a:spcBef>
                <a:spcPts val="1000"/>
              </a:spcBef>
              <a:spcAft>
                <a:spcPts val="0"/>
              </a:spcAft>
              <a:buSzPct val="100000"/>
              <a:buNone/>
            </a:pPr>
            <a:r>
              <a:rPr lang="en-US"/>
              <a:t>• Survey participation rates</a:t>
            </a:r>
            <a:endParaRPr/>
          </a:p>
          <a:p>
            <a:pPr indent="0" lvl="0" marL="0" rtl="0" algn="l">
              <a:lnSpc>
                <a:spcPct val="120000"/>
              </a:lnSpc>
              <a:spcBef>
                <a:spcPts val="1000"/>
              </a:spcBef>
              <a:spcAft>
                <a:spcPts val="0"/>
              </a:spcAft>
              <a:buSzPct val="100000"/>
              <a:buNone/>
            </a:pPr>
            <a:r>
              <a:rPr lang="en-US"/>
              <a:t>• Impact of response time</a:t>
            </a:r>
            <a:endParaRPr/>
          </a:p>
          <a:p>
            <a:pPr indent="0" lvl="0" marL="0" rtl="0" algn="l">
              <a:lnSpc>
                <a:spcPct val="120000"/>
              </a:lnSpc>
              <a:spcBef>
                <a:spcPts val="1000"/>
              </a:spcBef>
              <a:spcAft>
                <a:spcPts val="0"/>
              </a:spcAft>
              <a:buSzPct val="100000"/>
              <a:buNone/>
            </a:pPr>
            <a:r>
              <a:rPr lang="en-US"/>
              <a:t>• State and channel performance</a:t>
            </a:r>
            <a:endParaRPr/>
          </a:p>
        </p:txBody>
      </p:sp>
      <p:sp>
        <p:nvSpPr>
          <p:cNvPr id="115" name="Google Shape;115;p3"/>
          <p:cNvSpPr txBox="1"/>
          <p:nvPr/>
        </p:nvSpPr>
        <p:spPr>
          <a:xfrm>
            <a:off x="6867729" y="2966935"/>
            <a:ext cx="3472774"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70C0"/>
                </a:solidFill>
                <a:latin typeface="Gill Sans"/>
                <a:ea typeface="Gill Sans"/>
                <a:cs typeface="Gill Sans"/>
                <a:sym typeface="Gill Sans"/>
              </a:rPr>
              <a:t>Customer Interaction</a:t>
            </a:r>
            <a:endParaRPr/>
          </a:p>
          <a:p>
            <a:pPr indent="0" lvl="0" marL="0" marR="0" rtl="0" algn="l">
              <a:spcBef>
                <a:spcPts val="0"/>
              </a:spcBef>
              <a:spcAft>
                <a:spcPts val="0"/>
              </a:spcAft>
              <a:buNone/>
            </a:pPr>
            <a:r>
              <a:rPr lang="en-US" sz="1800">
                <a:solidFill>
                  <a:srgbClr val="0070C0"/>
                </a:solidFill>
                <a:latin typeface="Gill Sans"/>
                <a:ea typeface="Gill Sans"/>
                <a:cs typeface="Gill Sans"/>
                <a:sym typeface="Gill Sans"/>
              </a:rPr>
              <a:t>        ↓</a:t>
            </a:r>
            <a:endParaRPr/>
          </a:p>
          <a:p>
            <a:pPr indent="0" lvl="0" marL="0" marR="0" rtl="0" algn="l">
              <a:spcBef>
                <a:spcPts val="0"/>
              </a:spcBef>
              <a:spcAft>
                <a:spcPts val="0"/>
              </a:spcAft>
              <a:buNone/>
            </a:pPr>
            <a:r>
              <a:rPr lang="en-US" sz="1800">
                <a:solidFill>
                  <a:srgbClr val="0070C0"/>
                </a:solidFill>
                <a:latin typeface="Gill Sans"/>
                <a:ea typeface="Gill Sans"/>
                <a:cs typeface="Gill Sans"/>
                <a:sym typeface="Gill Sans"/>
              </a:rPr>
              <a:t>Customer Survey</a:t>
            </a:r>
            <a:endParaRPr/>
          </a:p>
          <a:p>
            <a:pPr indent="0" lvl="0" marL="0" marR="0" rtl="0" algn="l">
              <a:spcBef>
                <a:spcPts val="0"/>
              </a:spcBef>
              <a:spcAft>
                <a:spcPts val="0"/>
              </a:spcAft>
              <a:buNone/>
            </a:pPr>
            <a:r>
              <a:rPr lang="en-US" sz="1800">
                <a:solidFill>
                  <a:srgbClr val="0070C0"/>
                </a:solidFill>
                <a:latin typeface="Gill Sans"/>
                <a:ea typeface="Gill Sans"/>
                <a:cs typeface="Gill Sans"/>
                <a:sym typeface="Gill Sans"/>
              </a:rPr>
              <a:t>        ↓</a:t>
            </a:r>
            <a:endParaRPr/>
          </a:p>
          <a:p>
            <a:pPr indent="0" lvl="0" marL="0" marR="0" rtl="0" algn="l">
              <a:spcBef>
                <a:spcPts val="0"/>
              </a:spcBef>
              <a:spcAft>
                <a:spcPts val="0"/>
              </a:spcAft>
              <a:buNone/>
            </a:pPr>
            <a:r>
              <a:rPr lang="en-US" sz="1800">
                <a:solidFill>
                  <a:srgbClr val="0070C0"/>
                </a:solidFill>
                <a:latin typeface="Gill Sans"/>
                <a:ea typeface="Gill Sans"/>
                <a:cs typeface="Gill Sans"/>
                <a:sym typeface="Gill Sans"/>
              </a:rPr>
              <a:t>CSAT Analysis</a:t>
            </a:r>
            <a:endParaRPr/>
          </a:p>
          <a:p>
            <a:pPr indent="0" lvl="0" marL="0" marR="0" rtl="0" algn="l">
              <a:spcBef>
                <a:spcPts val="0"/>
              </a:spcBef>
              <a:spcAft>
                <a:spcPts val="0"/>
              </a:spcAft>
              <a:buNone/>
            </a:pPr>
            <a:r>
              <a:rPr lang="en-US" sz="1800">
                <a:solidFill>
                  <a:srgbClr val="0070C0"/>
                </a:solidFill>
                <a:latin typeface="Gill Sans"/>
                <a:ea typeface="Gill Sans"/>
                <a:cs typeface="Gill Sans"/>
                <a:sym typeface="Gill Sans"/>
              </a:rPr>
              <a:t>        ↓</a:t>
            </a:r>
            <a:endParaRPr/>
          </a:p>
          <a:p>
            <a:pPr indent="0" lvl="0" marL="0" marR="0" rtl="0" algn="l">
              <a:spcBef>
                <a:spcPts val="0"/>
              </a:spcBef>
              <a:spcAft>
                <a:spcPts val="0"/>
              </a:spcAft>
              <a:buNone/>
            </a:pPr>
            <a:r>
              <a:rPr lang="en-US" sz="1800">
                <a:solidFill>
                  <a:srgbClr val="0070C0"/>
                </a:solidFill>
                <a:latin typeface="Gill Sans"/>
                <a:ea typeface="Gill Sans"/>
                <a:cs typeface="Gill Sans"/>
                <a:sym typeface="Gill Sans"/>
              </a:rPr>
              <a:t>Business Insights</a:t>
            </a:r>
            <a:endParaRPr sz="1800">
              <a:solidFill>
                <a:srgbClr val="0070C0"/>
              </a:solidFill>
              <a:latin typeface="Gill Sans"/>
              <a:ea typeface="Gill Sans"/>
              <a:cs typeface="Gill Sans"/>
              <a:sym typeface="Gill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ph type="title"/>
          </p:nvPr>
        </p:nvSpPr>
        <p:spPr>
          <a:xfrm>
            <a:off x="1451578" y="1225685"/>
            <a:ext cx="9603275" cy="51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B3485"/>
              </a:buClr>
              <a:buSzPts val="2800"/>
              <a:buFont typeface="Gill Sans"/>
              <a:buNone/>
            </a:pPr>
            <a:r>
              <a:rPr lang="en-US" sz="2800" cap="none">
                <a:solidFill>
                  <a:srgbClr val="2B3485"/>
                </a:solidFill>
              </a:rPr>
              <a:t>Dataset Overview</a:t>
            </a:r>
            <a:endParaRPr sz="2800" cap="none">
              <a:solidFill>
                <a:srgbClr val="2B3485"/>
              </a:solidFill>
            </a:endParaRPr>
          </a:p>
        </p:txBody>
      </p:sp>
      <p:sp>
        <p:nvSpPr>
          <p:cNvPr id="121" name="Google Shape;121;p4"/>
          <p:cNvSpPr txBox="1"/>
          <p:nvPr>
            <p:ph idx="1" type="body"/>
          </p:nvPr>
        </p:nvSpPr>
        <p:spPr>
          <a:xfrm>
            <a:off x="1451578" y="2025461"/>
            <a:ext cx="9968694" cy="3927867"/>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SzPts val="2100"/>
              <a:buNone/>
            </a:pPr>
            <a:r>
              <a:rPr lang="en-US" sz="2100" u="sng"/>
              <a:t>Contents:</a:t>
            </a:r>
            <a:endParaRPr/>
          </a:p>
          <a:p>
            <a:pPr indent="0" lvl="0" marL="0" rtl="0" algn="l">
              <a:lnSpc>
                <a:spcPct val="120000"/>
              </a:lnSpc>
              <a:spcBef>
                <a:spcPts val="1000"/>
              </a:spcBef>
              <a:spcAft>
                <a:spcPts val="0"/>
              </a:spcAft>
              <a:buSzPts val="1900"/>
              <a:buNone/>
            </a:pPr>
            <a:r>
              <a:rPr lang="en-US" sz="1900"/>
              <a:t>Total Records               =    32940</a:t>
            </a:r>
            <a:endParaRPr/>
          </a:p>
          <a:p>
            <a:pPr indent="0" lvl="0" marL="0" rtl="0" algn="l">
              <a:lnSpc>
                <a:spcPct val="120000"/>
              </a:lnSpc>
              <a:spcBef>
                <a:spcPts val="1000"/>
              </a:spcBef>
              <a:spcAft>
                <a:spcPts val="0"/>
              </a:spcAft>
              <a:buSzPts val="1900"/>
              <a:buNone/>
            </a:pPr>
            <a:r>
              <a:rPr lang="en-US" sz="1900"/>
              <a:t>Rated customers	        =    12270</a:t>
            </a:r>
            <a:endParaRPr/>
          </a:p>
          <a:p>
            <a:pPr indent="0" lvl="0" marL="0" rtl="0" algn="l">
              <a:lnSpc>
                <a:spcPct val="120000"/>
              </a:lnSpc>
              <a:spcBef>
                <a:spcPts val="1000"/>
              </a:spcBef>
              <a:spcAft>
                <a:spcPts val="0"/>
              </a:spcAft>
              <a:buSzPts val="1900"/>
              <a:buNone/>
            </a:pPr>
            <a:r>
              <a:rPr lang="en-US" sz="1900"/>
              <a:t>Unrated customers       =    20670</a:t>
            </a:r>
            <a:endParaRPr/>
          </a:p>
          <a:p>
            <a:pPr indent="0" lvl="0" marL="0" rtl="0" algn="l">
              <a:lnSpc>
                <a:spcPct val="120000"/>
              </a:lnSpc>
              <a:spcBef>
                <a:spcPts val="1000"/>
              </a:spcBef>
              <a:spcAft>
                <a:spcPts val="0"/>
              </a:spcAft>
              <a:buSzPts val="1900"/>
              <a:buNone/>
            </a:pPr>
            <a:r>
              <a:rPr lang="en-US" sz="1900"/>
              <a:t>Channels                      =    4</a:t>
            </a:r>
            <a:endParaRPr/>
          </a:p>
          <a:p>
            <a:pPr indent="0" lvl="0" marL="0" rtl="0" algn="l">
              <a:lnSpc>
                <a:spcPct val="120000"/>
              </a:lnSpc>
              <a:spcBef>
                <a:spcPts val="1000"/>
              </a:spcBef>
              <a:spcAft>
                <a:spcPts val="0"/>
              </a:spcAft>
              <a:buSzPts val="1900"/>
              <a:buNone/>
            </a:pPr>
            <a:r>
              <a:rPr lang="en-US" sz="1900"/>
              <a:t>States                           =    50</a:t>
            </a:r>
            <a:endParaRPr/>
          </a:p>
          <a:p>
            <a:pPr indent="0" lvl="0" marL="0" rtl="0" algn="l">
              <a:lnSpc>
                <a:spcPct val="120000"/>
              </a:lnSpc>
              <a:spcBef>
                <a:spcPts val="1000"/>
              </a:spcBef>
              <a:spcAft>
                <a:spcPts val="0"/>
              </a:spcAft>
              <a:buSzPts val="1900"/>
              <a:buNone/>
            </a:pPr>
            <a:r>
              <a:rPr lang="en-US" sz="1900"/>
              <a:t>Sentiments                    =    5</a:t>
            </a:r>
            <a:endParaRPr/>
          </a:p>
          <a:p>
            <a:pPr indent="0" lvl="0" marL="0" rtl="0" algn="l">
              <a:lnSpc>
                <a:spcPct val="120000"/>
              </a:lnSpc>
              <a:spcBef>
                <a:spcPts val="1000"/>
              </a:spcBef>
              <a:spcAft>
                <a:spcPts val="0"/>
              </a:spcAft>
              <a:buSzPts val="1900"/>
              <a:buNone/>
            </a:pPr>
            <a:r>
              <a:t/>
            </a:r>
            <a:endParaRPr sz="1900"/>
          </a:p>
          <a:p>
            <a:pPr indent="0" lvl="0" marL="0" rtl="0" algn="l">
              <a:lnSpc>
                <a:spcPct val="100000"/>
              </a:lnSpc>
              <a:spcBef>
                <a:spcPts val="1000"/>
              </a:spcBef>
              <a:spcAft>
                <a:spcPts val="0"/>
              </a:spcAft>
              <a:buSzPts val="1900"/>
              <a:buNone/>
            </a:pPr>
            <a:r>
              <a:t/>
            </a:r>
            <a:endParaRPr sz="1900"/>
          </a:p>
          <a:p>
            <a:pPr indent="0" lvl="0" marL="0" rtl="0" algn="l">
              <a:lnSpc>
                <a:spcPct val="120000"/>
              </a:lnSpc>
              <a:spcBef>
                <a:spcPts val="1000"/>
              </a:spcBef>
              <a:spcAft>
                <a:spcPts val="0"/>
              </a:spcAft>
              <a:buSzPts val="1900"/>
              <a:buNone/>
            </a:pPr>
            <a:r>
              <a:t/>
            </a:r>
            <a:endParaRPr sz="1900"/>
          </a:p>
          <a:p>
            <a:pPr indent="0" lvl="0" marL="0" rtl="0" algn="l">
              <a:lnSpc>
                <a:spcPct val="120000"/>
              </a:lnSpc>
              <a:spcBef>
                <a:spcPts val="1000"/>
              </a:spcBef>
              <a:spcAft>
                <a:spcPts val="0"/>
              </a:spcAft>
              <a:buSzPts val="1900"/>
              <a:buNone/>
            </a:pPr>
            <a:r>
              <a:t/>
            </a:r>
            <a:endParaRPr sz="1900"/>
          </a:p>
        </p:txBody>
      </p:sp>
      <p:sp>
        <p:nvSpPr>
          <p:cNvPr id="122" name="Google Shape;122;p4"/>
          <p:cNvSpPr txBox="1"/>
          <p:nvPr/>
        </p:nvSpPr>
        <p:spPr>
          <a:xfrm>
            <a:off x="6435925" y="2142438"/>
            <a:ext cx="2950723" cy="26314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100" u="sng">
                <a:solidFill>
                  <a:schemeClr val="dk1"/>
                </a:solidFill>
                <a:latin typeface="Gill Sans"/>
                <a:ea typeface="Gill Sans"/>
                <a:cs typeface="Gill Sans"/>
                <a:sym typeface="Gill Sans"/>
              </a:rPr>
              <a:t>Columns:</a:t>
            </a:r>
            <a:endParaRPr/>
          </a:p>
          <a:p>
            <a:pPr indent="-198000" lvl="0" marL="285750" marR="0" rtl="0" algn="l">
              <a:spcBef>
                <a:spcPts val="0"/>
              </a:spcBef>
              <a:spcAft>
                <a:spcPts val="0"/>
              </a:spcAft>
              <a:buClr>
                <a:schemeClr val="dk1"/>
              </a:buClr>
              <a:buSzPts val="1800"/>
              <a:buFont typeface="Arial"/>
              <a:buChar char="•"/>
            </a:pPr>
            <a:r>
              <a:rPr lang="en-US" sz="1800">
                <a:solidFill>
                  <a:schemeClr val="dk1"/>
                </a:solidFill>
                <a:latin typeface="Gill Sans"/>
                <a:ea typeface="Gill Sans"/>
                <a:cs typeface="Gill Sans"/>
                <a:sym typeface="Gill Sans"/>
              </a:rPr>
              <a:t>CSAT Score</a:t>
            </a:r>
            <a:endParaRPr/>
          </a:p>
          <a:p>
            <a:pPr indent="-198000" lvl="0" marL="285750" marR="0" rtl="0" algn="l">
              <a:spcBef>
                <a:spcPts val="0"/>
              </a:spcBef>
              <a:spcAft>
                <a:spcPts val="0"/>
              </a:spcAft>
              <a:buClr>
                <a:schemeClr val="dk1"/>
              </a:buClr>
              <a:buSzPts val="1800"/>
              <a:buFont typeface="Arial"/>
              <a:buChar char="•"/>
            </a:pPr>
            <a:r>
              <a:rPr lang="en-US" sz="1800">
                <a:solidFill>
                  <a:schemeClr val="dk1"/>
                </a:solidFill>
                <a:latin typeface="Gill Sans"/>
                <a:ea typeface="Gill Sans"/>
                <a:cs typeface="Gill Sans"/>
                <a:sym typeface="Gill Sans"/>
              </a:rPr>
              <a:t>Sentiment</a:t>
            </a:r>
            <a:endParaRPr/>
          </a:p>
          <a:p>
            <a:pPr indent="-198000" lvl="0" marL="285750" marR="0" rtl="0" algn="l">
              <a:spcBef>
                <a:spcPts val="0"/>
              </a:spcBef>
              <a:spcAft>
                <a:spcPts val="0"/>
              </a:spcAft>
              <a:buClr>
                <a:schemeClr val="dk1"/>
              </a:buClr>
              <a:buSzPts val="1800"/>
              <a:buFont typeface="Arial"/>
              <a:buChar char="•"/>
            </a:pPr>
            <a:r>
              <a:rPr lang="en-US" sz="1800">
                <a:solidFill>
                  <a:schemeClr val="dk1"/>
                </a:solidFill>
                <a:latin typeface="Gill Sans"/>
                <a:ea typeface="Gill Sans"/>
                <a:cs typeface="Gill Sans"/>
                <a:sym typeface="Gill Sans"/>
              </a:rPr>
              <a:t>State</a:t>
            </a:r>
            <a:endParaRPr/>
          </a:p>
          <a:p>
            <a:pPr indent="-198000" lvl="0" marL="285750" marR="0" rtl="0" algn="l">
              <a:spcBef>
                <a:spcPts val="0"/>
              </a:spcBef>
              <a:spcAft>
                <a:spcPts val="0"/>
              </a:spcAft>
              <a:buClr>
                <a:schemeClr val="dk1"/>
              </a:buClr>
              <a:buSzPts val="1800"/>
              <a:buFont typeface="Arial"/>
              <a:buChar char="•"/>
            </a:pPr>
            <a:r>
              <a:rPr lang="en-US" sz="1800">
                <a:solidFill>
                  <a:schemeClr val="dk1"/>
                </a:solidFill>
                <a:latin typeface="Gill Sans"/>
                <a:ea typeface="Gill Sans"/>
                <a:cs typeface="Gill Sans"/>
                <a:sym typeface="Gill Sans"/>
              </a:rPr>
              <a:t>Channel</a:t>
            </a:r>
            <a:endParaRPr/>
          </a:p>
          <a:p>
            <a:pPr indent="-198000" lvl="0" marL="285750" marR="0" rtl="0" algn="l">
              <a:spcBef>
                <a:spcPts val="0"/>
              </a:spcBef>
              <a:spcAft>
                <a:spcPts val="0"/>
              </a:spcAft>
              <a:buClr>
                <a:schemeClr val="dk1"/>
              </a:buClr>
              <a:buSzPts val="1800"/>
              <a:buFont typeface="Arial"/>
              <a:buChar char="•"/>
            </a:pPr>
            <a:r>
              <a:rPr lang="en-US" sz="1800">
                <a:solidFill>
                  <a:schemeClr val="dk1"/>
                </a:solidFill>
                <a:latin typeface="Gill Sans"/>
                <a:ea typeface="Gill Sans"/>
                <a:cs typeface="Gill Sans"/>
                <a:sym typeface="Gill Sans"/>
              </a:rPr>
              <a:t>Reason</a:t>
            </a:r>
            <a:endParaRPr/>
          </a:p>
          <a:p>
            <a:pPr indent="-198000" lvl="0" marL="285750" marR="0" rtl="0" algn="l">
              <a:spcBef>
                <a:spcPts val="0"/>
              </a:spcBef>
              <a:spcAft>
                <a:spcPts val="0"/>
              </a:spcAft>
              <a:buClr>
                <a:schemeClr val="dk1"/>
              </a:buClr>
              <a:buSzPts val="1800"/>
              <a:buFont typeface="Arial"/>
              <a:buChar char="•"/>
            </a:pPr>
            <a:r>
              <a:rPr lang="en-US" sz="1800">
                <a:solidFill>
                  <a:schemeClr val="dk1"/>
                </a:solidFill>
                <a:latin typeface="Gill Sans"/>
                <a:ea typeface="Gill Sans"/>
                <a:cs typeface="Gill Sans"/>
                <a:sym typeface="Gill Sans"/>
              </a:rPr>
              <a:t>Response Time</a:t>
            </a:r>
            <a:endParaRPr/>
          </a:p>
          <a:p>
            <a:pPr indent="-198000" lvl="0" marL="285750" marR="0" rtl="0" algn="l">
              <a:spcBef>
                <a:spcPts val="0"/>
              </a:spcBef>
              <a:spcAft>
                <a:spcPts val="0"/>
              </a:spcAft>
              <a:buClr>
                <a:schemeClr val="dk1"/>
              </a:buClr>
              <a:buSzPts val="1800"/>
              <a:buFont typeface="Arial"/>
              <a:buChar char="•"/>
            </a:pPr>
            <a:r>
              <a:rPr lang="en-US" sz="1800">
                <a:solidFill>
                  <a:schemeClr val="dk1"/>
                </a:solidFill>
                <a:latin typeface="Gill Sans"/>
                <a:ea typeface="Gill Sans"/>
                <a:cs typeface="Gill Sans"/>
                <a:sym typeface="Gill Sans"/>
              </a:rPr>
              <a:t>Call Duration</a:t>
            </a:r>
            <a:endParaRPr/>
          </a:p>
          <a:p>
            <a:pPr indent="-198000" lvl="0" marL="285750" marR="0" rtl="0" algn="l">
              <a:spcBef>
                <a:spcPts val="0"/>
              </a:spcBef>
              <a:spcAft>
                <a:spcPts val="0"/>
              </a:spcAft>
              <a:buClr>
                <a:schemeClr val="dk1"/>
              </a:buClr>
              <a:buSzPts val="1800"/>
              <a:buFont typeface="Arial"/>
              <a:buChar char="•"/>
            </a:pPr>
            <a:r>
              <a:rPr lang="en-US" sz="1800">
                <a:solidFill>
                  <a:schemeClr val="dk1"/>
                </a:solidFill>
                <a:latin typeface="Gill Sans"/>
                <a:ea typeface="Gill Sans"/>
                <a:cs typeface="Gill Sans"/>
                <a:sym typeface="Gill Sans"/>
              </a:rPr>
              <a:t>Call Center</a:t>
            </a:r>
            <a:endParaRPr sz="1800">
              <a:solidFill>
                <a:schemeClr val="dk1"/>
              </a:solidFill>
              <a:latin typeface="Gill Sans"/>
              <a:ea typeface="Gill Sans"/>
              <a:cs typeface="Gill Sans"/>
              <a:sym typeface="Gill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idx="4294967295" type="body"/>
          </p:nvPr>
        </p:nvSpPr>
        <p:spPr>
          <a:xfrm>
            <a:off x="-2" y="726706"/>
            <a:ext cx="3083668" cy="3096266"/>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20000"/>
              </a:lnSpc>
              <a:spcBef>
                <a:spcPts val="0"/>
              </a:spcBef>
              <a:spcAft>
                <a:spcPts val="0"/>
              </a:spcAft>
              <a:buSzPct val="100000"/>
              <a:buNone/>
            </a:pPr>
            <a:r>
              <a:rPr lang="en-US"/>
              <a:t>What I did:</a:t>
            </a:r>
            <a:endParaRPr/>
          </a:p>
          <a:p>
            <a:pPr indent="-228632" lvl="0" marL="228600" rtl="0" algn="l">
              <a:lnSpc>
                <a:spcPct val="120000"/>
              </a:lnSpc>
              <a:spcBef>
                <a:spcPts val="1000"/>
              </a:spcBef>
              <a:spcAft>
                <a:spcPts val="0"/>
              </a:spcAft>
              <a:buSzPct val="100000"/>
              <a:buChar char="•"/>
            </a:pPr>
            <a:r>
              <a:rPr lang="en-US" sz="1700"/>
              <a:t>Removed duplicate records.</a:t>
            </a:r>
            <a:endParaRPr/>
          </a:p>
          <a:p>
            <a:pPr indent="-228632" lvl="0" marL="228600" rtl="0" algn="l">
              <a:lnSpc>
                <a:spcPct val="120000"/>
              </a:lnSpc>
              <a:spcBef>
                <a:spcPts val="1000"/>
              </a:spcBef>
              <a:spcAft>
                <a:spcPts val="0"/>
              </a:spcAft>
              <a:buSzPct val="100000"/>
              <a:buChar char="•"/>
            </a:pPr>
            <a:r>
              <a:rPr lang="en-US" sz="1700"/>
              <a:t>Verified missing values.</a:t>
            </a:r>
            <a:endParaRPr/>
          </a:p>
          <a:p>
            <a:pPr indent="-228632" lvl="0" marL="228600" rtl="0" algn="l">
              <a:lnSpc>
                <a:spcPct val="120000"/>
              </a:lnSpc>
              <a:spcBef>
                <a:spcPts val="1000"/>
              </a:spcBef>
              <a:spcAft>
                <a:spcPts val="0"/>
              </a:spcAft>
              <a:buSzPct val="100000"/>
              <a:buChar char="•"/>
            </a:pPr>
            <a:r>
              <a:rPr lang="en-US" sz="1700"/>
              <a:t>Identified CSAT Score=0 has Non-responsive.</a:t>
            </a:r>
            <a:endParaRPr/>
          </a:p>
          <a:p>
            <a:pPr indent="-228632" lvl="0" marL="228600" rtl="0" algn="l">
              <a:lnSpc>
                <a:spcPct val="120000"/>
              </a:lnSpc>
              <a:spcBef>
                <a:spcPts val="1000"/>
              </a:spcBef>
              <a:spcAft>
                <a:spcPts val="0"/>
              </a:spcAft>
              <a:buSzPct val="100000"/>
              <a:buChar char="•"/>
            </a:pPr>
            <a:r>
              <a:rPr lang="en-US" sz="1700"/>
              <a:t>Changed datatype of column.</a:t>
            </a:r>
            <a:endParaRPr/>
          </a:p>
          <a:p>
            <a:pPr indent="-228632" lvl="0" marL="228600" rtl="0" algn="l">
              <a:lnSpc>
                <a:spcPct val="120000"/>
              </a:lnSpc>
              <a:spcBef>
                <a:spcPts val="1000"/>
              </a:spcBef>
              <a:spcAft>
                <a:spcPts val="0"/>
              </a:spcAft>
              <a:buSzPct val="100000"/>
              <a:buChar char="•"/>
            </a:pPr>
            <a:r>
              <a:rPr lang="en-US" sz="1700"/>
              <a:t>Created DAX measures.</a:t>
            </a:r>
            <a:endParaRPr/>
          </a:p>
          <a:p>
            <a:pPr indent="-228632" lvl="0" marL="228600" rtl="0" algn="l">
              <a:lnSpc>
                <a:spcPct val="120000"/>
              </a:lnSpc>
              <a:spcBef>
                <a:spcPts val="1000"/>
              </a:spcBef>
              <a:spcAft>
                <a:spcPts val="0"/>
              </a:spcAft>
              <a:buSzPct val="100000"/>
              <a:buChar char="•"/>
            </a:pPr>
            <a:r>
              <a:rPr lang="en-US" sz="1700"/>
              <a:t>Created new column.</a:t>
            </a:r>
            <a:endParaRPr/>
          </a:p>
        </p:txBody>
      </p:sp>
      <p:sp>
        <p:nvSpPr>
          <p:cNvPr id="128" name="Google Shape;128;p5"/>
          <p:cNvSpPr txBox="1"/>
          <p:nvPr>
            <p:ph idx="4294967295" type="title"/>
          </p:nvPr>
        </p:nvSpPr>
        <p:spPr>
          <a:xfrm>
            <a:off x="-1" y="0"/>
            <a:ext cx="9610929" cy="55447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B3485"/>
              </a:buClr>
              <a:buSzPts val="2800"/>
              <a:buFont typeface="Gill Sans"/>
              <a:buNone/>
            </a:pPr>
            <a:r>
              <a:rPr lang="en-US" sz="2800" u="sng" cap="none">
                <a:solidFill>
                  <a:srgbClr val="2B3485"/>
                </a:solidFill>
              </a:rPr>
              <a:t>Data Cleaning Process</a:t>
            </a:r>
            <a:endParaRPr sz="2800" u="sng" cap="none">
              <a:solidFill>
                <a:srgbClr val="2B3485"/>
              </a:solidFill>
            </a:endParaRPr>
          </a:p>
        </p:txBody>
      </p:sp>
      <p:pic>
        <p:nvPicPr>
          <p:cNvPr id="129" name="Google Shape;129;p5"/>
          <p:cNvPicPr preferRelativeResize="0"/>
          <p:nvPr/>
        </p:nvPicPr>
        <p:blipFill rotWithShape="1">
          <a:blip r:embed="rId3">
            <a:alphaModFix/>
          </a:blip>
          <a:srcRect b="0" l="0" r="0" t="0"/>
          <a:stretch/>
        </p:blipFill>
        <p:spPr>
          <a:xfrm>
            <a:off x="2957207" y="845220"/>
            <a:ext cx="9137239" cy="4806549"/>
          </a:xfrm>
          <a:prstGeom prst="rect">
            <a:avLst/>
          </a:prstGeom>
          <a:noFill/>
          <a:ln>
            <a:noFill/>
          </a:ln>
        </p:spPr>
      </p:pic>
      <p:sp>
        <p:nvSpPr>
          <p:cNvPr id="130" name="Google Shape;130;p5"/>
          <p:cNvSpPr txBox="1"/>
          <p:nvPr/>
        </p:nvSpPr>
        <p:spPr>
          <a:xfrm>
            <a:off x="863597" y="3822971"/>
            <a:ext cx="1356471"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70C0"/>
                </a:solidFill>
                <a:latin typeface="Gill Sans"/>
                <a:ea typeface="Gill Sans"/>
                <a:cs typeface="Gill Sans"/>
                <a:sym typeface="Gill Sans"/>
              </a:rPr>
              <a:t>Raw Data</a:t>
            </a:r>
            <a:endParaRPr/>
          </a:p>
          <a:p>
            <a:pPr indent="0" lvl="0" marL="0" marR="0" rtl="0" algn="l">
              <a:spcBef>
                <a:spcPts val="0"/>
              </a:spcBef>
              <a:spcAft>
                <a:spcPts val="0"/>
              </a:spcAft>
              <a:buNone/>
            </a:pPr>
            <a:r>
              <a:rPr lang="en-US" sz="1600">
                <a:solidFill>
                  <a:srgbClr val="0070C0"/>
                </a:solidFill>
                <a:latin typeface="Gill Sans"/>
                <a:ea typeface="Gill Sans"/>
                <a:cs typeface="Gill Sans"/>
                <a:sym typeface="Gill Sans"/>
              </a:rPr>
              <a:t>    ↓</a:t>
            </a:r>
            <a:endParaRPr/>
          </a:p>
          <a:p>
            <a:pPr indent="0" lvl="0" marL="0" marR="0" rtl="0" algn="l">
              <a:spcBef>
                <a:spcPts val="0"/>
              </a:spcBef>
              <a:spcAft>
                <a:spcPts val="0"/>
              </a:spcAft>
              <a:buNone/>
            </a:pPr>
            <a:r>
              <a:rPr lang="en-US" sz="1600">
                <a:solidFill>
                  <a:srgbClr val="0070C0"/>
                </a:solidFill>
                <a:latin typeface="Gill Sans"/>
                <a:ea typeface="Gill Sans"/>
                <a:cs typeface="Gill Sans"/>
                <a:sym typeface="Gill Sans"/>
              </a:rPr>
              <a:t>Cleaning  &amp; Queries </a:t>
            </a:r>
            <a:endParaRPr/>
          </a:p>
          <a:p>
            <a:pPr indent="0" lvl="0" marL="0" marR="0" rtl="0" algn="l">
              <a:spcBef>
                <a:spcPts val="0"/>
              </a:spcBef>
              <a:spcAft>
                <a:spcPts val="0"/>
              </a:spcAft>
              <a:buNone/>
            </a:pPr>
            <a:r>
              <a:rPr lang="en-US" sz="1600">
                <a:solidFill>
                  <a:srgbClr val="0070C0"/>
                </a:solidFill>
                <a:latin typeface="Gill Sans"/>
                <a:ea typeface="Gill Sans"/>
                <a:cs typeface="Gill Sans"/>
                <a:sym typeface="Gill Sans"/>
              </a:rPr>
              <a:t>    ↓</a:t>
            </a:r>
            <a:endParaRPr/>
          </a:p>
          <a:p>
            <a:pPr indent="0" lvl="0" marL="0" marR="0" rtl="0" algn="l">
              <a:spcBef>
                <a:spcPts val="0"/>
              </a:spcBef>
              <a:spcAft>
                <a:spcPts val="0"/>
              </a:spcAft>
              <a:buNone/>
            </a:pPr>
            <a:r>
              <a:rPr lang="en-US" sz="1600">
                <a:solidFill>
                  <a:srgbClr val="0070C0"/>
                </a:solidFill>
                <a:latin typeface="Gill Sans"/>
                <a:ea typeface="Gill Sans"/>
                <a:cs typeface="Gill Sans"/>
                <a:sym typeface="Gill Sans"/>
              </a:rPr>
              <a:t>Validation</a:t>
            </a:r>
            <a:endParaRPr/>
          </a:p>
          <a:p>
            <a:pPr indent="0" lvl="0" marL="0" marR="0" rtl="0" algn="l">
              <a:spcBef>
                <a:spcPts val="0"/>
              </a:spcBef>
              <a:spcAft>
                <a:spcPts val="0"/>
              </a:spcAft>
              <a:buNone/>
            </a:pPr>
            <a:r>
              <a:rPr lang="en-US" sz="1600">
                <a:solidFill>
                  <a:srgbClr val="0070C0"/>
                </a:solidFill>
                <a:latin typeface="Gill Sans"/>
                <a:ea typeface="Gill Sans"/>
                <a:cs typeface="Gill Sans"/>
                <a:sym typeface="Gill Sans"/>
              </a:rPr>
              <a:t>    ↓</a:t>
            </a:r>
            <a:endParaRPr/>
          </a:p>
          <a:p>
            <a:pPr indent="0" lvl="0" marL="0" marR="0" rtl="0" algn="l">
              <a:spcBef>
                <a:spcPts val="0"/>
              </a:spcBef>
              <a:spcAft>
                <a:spcPts val="0"/>
              </a:spcAft>
              <a:buNone/>
            </a:pPr>
            <a:r>
              <a:rPr lang="en-US" sz="1600">
                <a:solidFill>
                  <a:srgbClr val="0070C0"/>
                </a:solidFill>
                <a:latin typeface="Gill Sans"/>
                <a:ea typeface="Gill Sans"/>
                <a:cs typeface="Gill Sans"/>
                <a:sym typeface="Gill Sans"/>
              </a:rPr>
              <a:t>Power BI Model</a:t>
            </a:r>
            <a:endParaRPr sz="1600">
              <a:solidFill>
                <a:srgbClr val="0070C0"/>
              </a:solidFill>
              <a:latin typeface="Gill Sans"/>
              <a:ea typeface="Gill Sans"/>
              <a:cs typeface="Gill Sans"/>
              <a:sym typeface="Gil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txBox="1"/>
          <p:nvPr>
            <p:ph idx="4294967295" type="title"/>
          </p:nvPr>
        </p:nvSpPr>
        <p:spPr>
          <a:xfrm>
            <a:off x="0" y="151385"/>
            <a:ext cx="9790687" cy="508136"/>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2B3485"/>
              </a:buClr>
              <a:buSzPct val="100000"/>
              <a:buFont typeface="Gill Sans"/>
              <a:buNone/>
            </a:pPr>
            <a:r>
              <a:rPr lang="en-US" sz="3100" u="sng" cap="none">
                <a:solidFill>
                  <a:srgbClr val="2B3485"/>
                </a:solidFill>
              </a:rPr>
              <a:t>SQL  Analysis</a:t>
            </a:r>
            <a:br>
              <a:rPr lang="en-US" sz="2800" cap="none">
                <a:solidFill>
                  <a:srgbClr val="2B3485"/>
                </a:solidFill>
              </a:rPr>
            </a:br>
            <a:endParaRPr sz="2800"/>
          </a:p>
        </p:txBody>
      </p:sp>
      <p:sp>
        <p:nvSpPr>
          <p:cNvPr id="136" name="Google Shape;136;p6"/>
          <p:cNvSpPr txBox="1"/>
          <p:nvPr>
            <p:ph idx="4294967295" type="body"/>
          </p:nvPr>
        </p:nvSpPr>
        <p:spPr>
          <a:xfrm>
            <a:off x="1" y="1040860"/>
            <a:ext cx="3103122" cy="4815191"/>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20000"/>
              </a:lnSpc>
              <a:spcBef>
                <a:spcPts val="0"/>
              </a:spcBef>
              <a:spcAft>
                <a:spcPts val="0"/>
              </a:spcAft>
              <a:buSzPts val="1900"/>
              <a:buChar char="•"/>
            </a:pPr>
            <a:r>
              <a:rPr lang="en-US" sz="1900"/>
              <a:t>Survey participation rate.</a:t>
            </a:r>
            <a:endParaRPr/>
          </a:p>
          <a:p>
            <a:pPr indent="-228600" lvl="0" marL="228600" rtl="0" algn="l">
              <a:lnSpc>
                <a:spcPct val="120000"/>
              </a:lnSpc>
              <a:spcBef>
                <a:spcPts val="1000"/>
              </a:spcBef>
              <a:spcAft>
                <a:spcPts val="0"/>
              </a:spcAft>
              <a:buSzPts val="1900"/>
              <a:buChar char="•"/>
            </a:pPr>
            <a:r>
              <a:rPr lang="en-US" sz="1900"/>
              <a:t>State wise CSAT analysis.</a:t>
            </a:r>
            <a:endParaRPr/>
          </a:p>
          <a:p>
            <a:pPr indent="-228600" lvl="0" marL="228600" rtl="0" algn="l">
              <a:lnSpc>
                <a:spcPct val="120000"/>
              </a:lnSpc>
              <a:spcBef>
                <a:spcPts val="1000"/>
              </a:spcBef>
              <a:spcAft>
                <a:spcPts val="0"/>
              </a:spcAft>
              <a:buSzPts val="1900"/>
              <a:buChar char="•"/>
            </a:pPr>
            <a:r>
              <a:rPr lang="en-US" sz="1900"/>
              <a:t>Reason and Sentiment analysis.</a:t>
            </a:r>
            <a:endParaRPr/>
          </a:p>
          <a:p>
            <a:pPr indent="-228600" lvl="0" marL="228600" rtl="0" algn="l">
              <a:lnSpc>
                <a:spcPct val="120000"/>
              </a:lnSpc>
              <a:spcBef>
                <a:spcPts val="1000"/>
              </a:spcBef>
              <a:spcAft>
                <a:spcPts val="0"/>
              </a:spcAft>
              <a:buSzPts val="1900"/>
              <a:buChar char="•"/>
            </a:pPr>
            <a:r>
              <a:rPr lang="en-US" sz="1900"/>
              <a:t>State ,channel and Reason on CSAT score analysis .</a:t>
            </a:r>
            <a:endParaRPr/>
          </a:p>
          <a:p>
            <a:pPr indent="-228600" lvl="0" marL="228600" rtl="0" algn="l">
              <a:lnSpc>
                <a:spcPct val="120000"/>
              </a:lnSpc>
              <a:spcBef>
                <a:spcPts val="1000"/>
              </a:spcBef>
              <a:spcAft>
                <a:spcPts val="0"/>
              </a:spcAft>
              <a:buSzPts val="1900"/>
              <a:buChar char="•"/>
            </a:pPr>
            <a:r>
              <a:rPr lang="en-US" sz="1900"/>
              <a:t>Customer Sentiment analysis.</a:t>
            </a:r>
            <a:endParaRPr/>
          </a:p>
          <a:p>
            <a:pPr indent="-228600" lvl="0" marL="228600" rtl="0" algn="l">
              <a:lnSpc>
                <a:spcPct val="120000"/>
              </a:lnSpc>
              <a:spcBef>
                <a:spcPts val="1000"/>
              </a:spcBef>
              <a:spcAft>
                <a:spcPts val="0"/>
              </a:spcAft>
              <a:buSzPts val="1900"/>
              <a:buChar char="•"/>
            </a:pPr>
            <a:r>
              <a:rPr lang="en-US" sz="1900"/>
              <a:t>State response rate analysis.</a:t>
            </a:r>
            <a:endParaRPr/>
          </a:p>
          <a:p>
            <a:pPr indent="-228600" lvl="0" marL="228600" rtl="0" algn="l">
              <a:lnSpc>
                <a:spcPct val="120000"/>
              </a:lnSpc>
              <a:spcBef>
                <a:spcPts val="1000"/>
              </a:spcBef>
              <a:spcAft>
                <a:spcPts val="0"/>
              </a:spcAft>
              <a:buSzPts val="1900"/>
              <a:buChar char="•"/>
            </a:pPr>
            <a:r>
              <a:rPr lang="en-US" sz="1900"/>
              <a:t>Call Centre Performance Analysis.</a:t>
            </a:r>
            <a:endParaRPr sz="1800"/>
          </a:p>
        </p:txBody>
      </p:sp>
      <p:pic>
        <p:nvPicPr>
          <p:cNvPr id="137" name="Google Shape;137;p6"/>
          <p:cNvPicPr preferRelativeResize="0"/>
          <p:nvPr/>
        </p:nvPicPr>
        <p:blipFill rotWithShape="1">
          <a:blip r:embed="rId3">
            <a:alphaModFix/>
          </a:blip>
          <a:srcRect b="0" l="0" r="0" t="0"/>
          <a:stretch/>
        </p:blipFill>
        <p:spPr>
          <a:xfrm>
            <a:off x="3103123" y="767270"/>
            <a:ext cx="8978630" cy="518058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7"/>
          <p:cNvSpPr txBox="1"/>
          <p:nvPr/>
        </p:nvSpPr>
        <p:spPr>
          <a:xfrm>
            <a:off x="68094" y="186899"/>
            <a:ext cx="970171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u="sng">
                <a:solidFill>
                  <a:srgbClr val="2B3485"/>
                </a:solidFill>
                <a:latin typeface="Gill Sans"/>
                <a:ea typeface="Gill Sans"/>
                <a:cs typeface="Gill Sans"/>
                <a:sym typeface="Gill Sans"/>
              </a:rPr>
              <a:t>Dashboard</a:t>
            </a:r>
            <a:r>
              <a:rPr lang="en-US" sz="2400" u="sng">
                <a:solidFill>
                  <a:srgbClr val="2B3485"/>
                </a:solidFill>
                <a:latin typeface="Gill Sans"/>
                <a:ea typeface="Gill Sans"/>
                <a:cs typeface="Gill Sans"/>
                <a:sym typeface="Gill Sans"/>
              </a:rPr>
              <a:t> 1-</a:t>
            </a:r>
            <a:r>
              <a:rPr lang="en-US" sz="2500">
                <a:solidFill>
                  <a:srgbClr val="2B3485"/>
                </a:solidFill>
                <a:latin typeface="Gill Sans"/>
                <a:ea typeface="Gill Sans"/>
                <a:cs typeface="Gill Sans"/>
                <a:sym typeface="Gill Sans"/>
              </a:rPr>
              <a:t> Customers Interaction Analysis</a:t>
            </a:r>
            <a:endParaRPr sz="2500">
              <a:solidFill>
                <a:srgbClr val="2B3485"/>
              </a:solidFill>
              <a:latin typeface="Gill Sans"/>
              <a:ea typeface="Gill Sans"/>
              <a:cs typeface="Gill Sans"/>
              <a:sym typeface="Gill Sans"/>
            </a:endParaRPr>
          </a:p>
        </p:txBody>
      </p:sp>
      <p:pic>
        <p:nvPicPr>
          <p:cNvPr id="143" name="Google Shape;143;p7"/>
          <p:cNvPicPr preferRelativeResize="0"/>
          <p:nvPr/>
        </p:nvPicPr>
        <p:blipFill rotWithShape="1">
          <a:blip r:embed="rId3">
            <a:alphaModFix/>
          </a:blip>
          <a:srcRect b="0" l="0" r="0" t="0"/>
          <a:stretch/>
        </p:blipFill>
        <p:spPr>
          <a:xfrm>
            <a:off x="1207851" y="710119"/>
            <a:ext cx="9776297" cy="530399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8"/>
          <p:cNvSpPr txBox="1"/>
          <p:nvPr>
            <p:ph type="title"/>
          </p:nvPr>
        </p:nvSpPr>
        <p:spPr>
          <a:xfrm>
            <a:off x="1451579" y="1099226"/>
            <a:ext cx="9603275" cy="7545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B3485"/>
              </a:buClr>
              <a:buSzPts val="3600"/>
              <a:buFont typeface="Gill Sans"/>
              <a:buNone/>
            </a:pPr>
            <a:r>
              <a:rPr lang="en-US" sz="3600">
                <a:solidFill>
                  <a:srgbClr val="2B3485"/>
                </a:solidFill>
              </a:rPr>
              <a:t> </a:t>
            </a:r>
            <a:r>
              <a:rPr lang="en-US" sz="2800" cap="none">
                <a:solidFill>
                  <a:srgbClr val="2B3485"/>
                </a:solidFill>
              </a:rPr>
              <a:t>Dashboard 1 Insights:</a:t>
            </a:r>
            <a:endParaRPr sz="2800"/>
          </a:p>
        </p:txBody>
      </p:sp>
      <p:sp>
        <p:nvSpPr>
          <p:cNvPr id="149" name="Google Shape;149;p8"/>
          <p:cNvSpPr txBox="1"/>
          <p:nvPr>
            <p:ph idx="1" type="body"/>
          </p:nvPr>
        </p:nvSpPr>
        <p:spPr>
          <a:xfrm>
            <a:off x="1451579" y="2015732"/>
            <a:ext cx="9603275" cy="397650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Total Interactions = 32.94k</a:t>
            </a:r>
            <a:endParaRPr/>
          </a:p>
          <a:p>
            <a:pPr indent="-228600" lvl="0" marL="228600" rtl="0" algn="l">
              <a:lnSpc>
                <a:spcPct val="120000"/>
              </a:lnSpc>
              <a:spcBef>
                <a:spcPts val="1000"/>
              </a:spcBef>
              <a:spcAft>
                <a:spcPts val="0"/>
              </a:spcAft>
              <a:buSzPts val="2000"/>
              <a:buChar char="•"/>
            </a:pPr>
            <a:r>
              <a:rPr lang="en-US"/>
              <a:t>Rated Customers =12.27k</a:t>
            </a:r>
            <a:endParaRPr/>
          </a:p>
          <a:p>
            <a:pPr indent="-228600" lvl="0" marL="228600" rtl="0" algn="l">
              <a:lnSpc>
                <a:spcPct val="120000"/>
              </a:lnSpc>
              <a:spcBef>
                <a:spcPts val="1000"/>
              </a:spcBef>
              <a:spcAft>
                <a:spcPts val="0"/>
              </a:spcAft>
              <a:buSzPts val="2000"/>
              <a:buChar char="•"/>
            </a:pPr>
            <a:r>
              <a:rPr lang="en-US"/>
              <a:t>Unrated Customers =20.67k</a:t>
            </a:r>
            <a:endParaRPr/>
          </a:p>
          <a:p>
            <a:pPr indent="-228600" lvl="0" marL="228600" rtl="0" algn="l">
              <a:lnSpc>
                <a:spcPct val="120000"/>
              </a:lnSpc>
              <a:spcBef>
                <a:spcPts val="1000"/>
              </a:spcBef>
              <a:spcAft>
                <a:spcPts val="0"/>
              </a:spcAft>
              <a:buSzPts val="2000"/>
              <a:buChar char="•"/>
            </a:pPr>
            <a:r>
              <a:rPr lang="en-US"/>
              <a:t>Only 37.25% customers submitted surveys.</a:t>
            </a:r>
            <a:endParaRPr/>
          </a:p>
          <a:p>
            <a:pPr indent="-228600" lvl="0" marL="228600" rtl="0" algn="l">
              <a:lnSpc>
                <a:spcPct val="120000"/>
              </a:lnSpc>
              <a:spcBef>
                <a:spcPts val="1000"/>
              </a:spcBef>
              <a:spcAft>
                <a:spcPts val="0"/>
              </a:spcAft>
              <a:buSzPts val="2000"/>
              <a:buChar char="•"/>
            </a:pPr>
            <a:r>
              <a:rPr lang="en-US"/>
              <a:t>Billing Questions generate the highest contact volume.</a:t>
            </a:r>
            <a:endParaRPr/>
          </a:p>
          <a:p>
            <a:pPr indent="-228600" lvl="0" marL="228600" rtl="0" algn="l">
              <a:lnSpc>
                <a:spcPct val="120000"/>
              </a:lnSpc>
              <a:spcBef>
                <a:spcPts val="1000"/>
              </a:spcBef>
              <a:spcAft>
                <a:spcPts val="0"/>
              </a:spcAft>
              <a:buSzPts val="2000"/>
              <a:buChar char="•"/>
            </a:pPr>
            <a:r>
              <a:rPr lang="en-US"/>
              <a:t>Call Center is the most preferred channel.</a:t>
            </a:r>
            <a:endParaRPr/>
          </a:p>
          <a:p>
            <a:pPr indent="-228600" lvl="0" marL="228600" rtl="0" algn="l">
              <a:lnSpc>
                <a:spcPct val="120000"/>
              </a:lnSpc>
              <a:spcBef>
                <a:spcPts val="1000"/>
              </a:spcBef>
              <a:spcAft>
                <a:spcPts val="0"/>
              </a:spcAft>
              <a:buSzPts val="2000"/>
              <a:buChar char="•"/>
            </a:pPr>
            <a:r>
              <a:rPr lang="en-US"/>
              <a:t>Majority of interactions are handled within SLA.</a:t>
            </a:r>
            <a:endParaRPr/>
          </a:p>
          <a:p>
            <a:pPr indent="-228600" lvl="0" marL="228600" rtl="0" algn="l">
              <a:lnSpc>
                <a:spcPct val="120000"/>
              </a:lnSpc>
              <a:spcBef>
                <a:spcPts val="1000"/>
              </a:spcBef>
              <a:spcAft>
                <a:spcPts val="0"/>
              </a:spcAft>
              <a:buSzPts val="2000"/>
              <a:buChar char="•"/>
            </a:pPr>
            <a:r>
              <a:rPr lang="en-US"/>
              <a:t>Majority of customer interactions fall within Neutral and Negative sentiment categories.</a:t>
            </a:r>
            <a:endParaRPr/>
          </a:p>
          <a:p>
            <a:pPr indent="-107950" lvl="0" marL="228600" rtl="0" algn="l">
              <a:lnSpc>
                <a:spcPct val="120000"/>
              </a:lnSpc>
              <a:spcBef>
                <a:spcPts val="1000"/>
              </a:spcBef>
              <a:spcAft>
                <a:spcPts val="0"/>
              </a:spcAft>
              <a:buSzPts val="1900"/>
              <a:buNone/>
            </a:pPr>
            <a:r>
              <a:t/>
            </a:r>
            <a:endParaRPr sz="1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9"/>
          <p:cNvSpPr txBox="1"/>
          <p:nvPr/>
        </p:nvSpPr>
        <p:spPr>
          <a:xfrm>
            <a:off x="68094" y="186899"/>
            <a:ext cx="970171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u="sng">
                <a:solidFill>
                  <a:srgbClr val="2B3485"/>
                </a:solidFill>
                <a:latin typeface="Gill Sans"/>
                <a:ea typeface="Gill Sans"/>
                <a:cs typeface="Gill Sans"/>
                <a:sym typeface="Gill Sans"/>
              </a:rPr>
              <a:t>Dashboard</a:t>
            </a:r>
            <a:r>
              <a:rPr lang="en-US" sz="2400" u="sng">
                <a:solidFill>
                  <a:srgbClr val="2B3485"/>
                </a:solidFill>
                <a:latin typeface="Gill Sans"/>
                <a:ea typeface="Gill Sans"/>
                <a:cs typeface="Gill Sans"/>
                <a:sym typeface="Gill Sans"/>
              </a:rPr>
              <a:t> 2 </a:t>
            </a:r>
            <a:r>
              <a:rPr lang="en-US" sz="2500">
                <a:solidFill>
                  <a:srgbClr val="2B3485"/>
                </a:solidFill>
                <a:latin typeface="Gill Sans"/>
                <a:ea typeface="Gill Sans"/>
                <a:cs typeface="Gill Sans"/>
                <a:sym typeface="Gill Sans"/>
              </a:rPr>
              <a:t>– Customers Satisfaction Analysis</a:t>
            </a:r>
            <a:endParaRPr sz="2500">
              <a:solidFill>
                <a:srgbClr val="2B3485"/>
              </a:solidFill>
              <a:latin typeface="Gill Sans"/>
              <a:ea typeface="Gill Sans"/>
              <a:cs typeface="Gill Sans"/>
              <a:sym typeface="Gill Sans"/>
            </a:endParaRPr>
          </a:p>
        </p:txBody>
      </p:sp>
      <p:pic>
        <p:nvPicPr>
          <p:cNvPr id="155" name="Google Shape;155;p9"/>
          <p:cNvPicPr preferRelativeResize="0"/>
          <p:nvPr/>
        </p:nvPicPr>
        <p:blipFill rotWithShape="1">
          <a:blip r:embed="rId3">
            <a:alphaModFix/>
          </a:blip>
          <a:srcRect b="0" l="0" r="0" t="0"/>
          <a:stretch/>
        </p:blipFill>
        <p:spPr>
          <a:xfrm>
            <a:off x="1138136" y="710118"/>
            <a:ext cx="9701719" cy="534048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0"/>
          <p:cNvSpPr txBox="1"/>
          <p:nvPr>
            <p:ph type="title"/>
          </p:nvPr>
        </p:nvSpPr>
        <p:spPr>
          <a:xfrm>
            <a:off x="1451579" y="1099226"/>
            <a:ext cx="9603275" cy="7545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B3485"/>
              </a:buClr>
              <a:buSzPts val="3600"/>
              <a:buFont typeface="Gill Sans"/>
              <a:buNone/>
            </a:pPr>
            <a:r>
              <a:rPr lang="en-US" sz="3600">
                <a:solidFill>
                  <a:srgbClr val="2B3485"/>
                </a:solidFill>
              </a:rPr>
              <a:t> </a:t>
            </a:r>
            <a:r>
              <a:rPr lang="en-US" sz="2800" cap="none">
                <a:solidFill>
                  <a:srgbClr val="2B3485"/>
                </a:solidFill>
              </a:rPr>
              <a:t>Dashboard 2 Insights:</a:t>
            </a:r>
            <a:endParaRPr sz="2800"/>
          </a:p>
        </p:txBody>
      </p:sp>
      <p:sp>
        <p:nvSpPr>
          <p:cNvPr id="161" name="Google Shape;161;p10"/>
          <p:cNvSpPr txBox="1"/>
          <p:nvPr>
            <p:ph idx="1" type="body"/>
          </p:nvPr>
        </p:nvSpPr>
        <p:spPr>
          <a:xfrm>
            <a:off x="1451579" y="2015732"/>
            <a:ext cx="9603275" cy="3460940"/>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 Average CSAT Score = 5.55</a:t>
            </a:r>
            <a:endParaRPr/>
          </a:p>
          <a:p>
            <a:pPr indent="-228600" lvl="0" marL="228600" rtl="0" algn="l">
              <a:lnSpc>
                <a:spcPct val="120000"/>
              </a:lnSpc>
              <a:spcBef>
                <a:spcPts val="1000"/>
              </a:spcBef>
              <a:spcAft>
                <a:spcPts val="0"/>
              </a:spcAft>
              <a:buSzPts val="2000"/>
              <a:buChar char="•"/>
            </a:pPr>
            <a:r>
              <a:rPr lang="en-US"/>
              <a:t>Satisfied Customers = 23.84%</a:t>
            </a:r>
            <a:endParaRPr/>
          </a:p>
          <a:p>
            <a:pPr indent="-228600" lvl="0" marL="228600" rtl="0" algn="l">
              <a:lnSpc>
                <a:spcPct val="120000"/>
              </a:lnSpc>
              <a:spcBef>
                <a:spcPts val="1000"/>
              </a:spcBef>
              <a:spcAft>
                <a:spcPts val="0"/>
              </a:spcAft>
              <a:buSzPts val="2000"/>
              <a:buChar char="•"/>
            </a:pPr>
            <a:r>
              <a:rPr lang="en-US"/>
              <a:t>Very Positive customers average 9.49 CSAT Score vs 2.46 for Very Negative customers.</a:t>
            </a:r>
            <a:endParaRPr/>
          </a:p>
          <a:p>
            <a:pPr indent="-228600" lvl="0" marL="228600" rtl="0" algn="l">
              <a:lnSpc>
                <a:spcPct val="120000"/>
              </a:lnSpc>
              <a:spcBef>
                <a:spcPts val="1000"/>
              </a:spcBef>
              <a:spcAft>
                <a:spcPts val="0"/>
              </a:spcAft>
              <a:buSzPts val="2000"/>
              <a:buChar char="•"/>
            </a:pPr>
            <a:r>
              <a:rPr lang="en-US"/>
              <a:t>Call Center channel has the highest average satisfaction.</a:t>
            </a:r>
            <a:endParaRPr/>
          </a:p>
          <a:p>
            <a:pPr indent="-228600" lvl="0" marL="228600" rtl="0" algn="l">
              <a:lnSpc>
                <a:spcPct val="120000"/>
              </a:lnSpc>
              <a:spcBef>
                <a:spcPts val="1000"/>
              </a:spcBef>
              <a:spcAft>
                <a:spcPts val="0"/>
              </a:spcAft>
              <a:buSzPts val="2000"/>
              <a:buChar char="•"/>
            </a:pPr>
            <a:r>
              <a:rPr lang="en-US"/>
              <a:t>Customer sentiment shows a strong positive correlation with CSAT scores</a:t>
            </a:r>
            <a:endParaRPr/>
          </a:p>
          <a:p>
            <a:pPr indent="-228600" lvl="0" marL="228600" rtl="0" algn="l">
              <a:lnSpc>
                <a:spcPct val="120000"/>
              </a:lnSpc>
              <a:spcBef>
                <a:spcPts val="1000"/>
              </a:spcBef>
              <a:spcAft>
                <a:spcPts val="0"/>
              </a:spcAft>
              <a:buSzPts val="2000"/>
              <a:buChar char="•"/>
            </a:pPr>
            <a:r>
              <a:rPr lang="en-US"/>
              <a:t>Maine records the lowest CSAT score.</a:t>
            </a:r>
            <a:endParaRPr/>
          </a:p>
          <a:p>
            <a:pPr indent="-228600" lvl="0" marL="228600" rtl="0" algn="l">
              <a:lnSpc>
                <a:spcPct val="120000"/>
              </a:lnSpc>
              <a:spcBef>
                <a:spcPts val="1000"/>
              </a:spcBef>
              <a:spcAft>
                <a:spcPts val="0"/>
              </a:spcAft>
              <a:buSzPts val="2000"/>
              <a:buChar char="•"/>
            </a:pPr>
            <a:r>
              <a:rPr lang="en-US"/>
              <a:t>Response time has limited impact on CSAT compared to issue resolution quality.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1"/>
          <p:cNvSpPr txBox="1"/>
          <p:nvPr>
            <p:ph type="title"/>
          </p:nvPr>
        </p:nvSpPr>
        <p:spPr>
          <a:xfrm>
            <a:off x="1451578" y="1293779"/>
            <a:ext cx="9603275" cy="525294"/>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2B3485"/>
              </a:buClr>
              <a:buSzPct val="100000"/>
              <a:buFont typeface="Gill Sans"/>
              <a:buNone/>
            </a:pPr>
            <a:r>
              <a:rPr lang="en-US" cap="none">
                <a:solidFill>
                  <a:srgbClr val="2B3485"/>
                </a:solidFill>
              </a:rPr>
              <a:t>Recommendation:</a:t>
            </a:r>
            <a:br>
              <a:rPr lang="en-US" cap="none">
                <a:solidFill>
                  <a:srgbClr val="2B3485"/>
                </a:solidFill>
              </a:rPr>
            </a:br>
            <a:endParaRPr/>
          </a:p>
        </p:txBody>
      </p:sp>
      <p:sp>
        <p:nvSpPr>
          <p:cNvPr id="167" name="Google Shape;167;p11"/>
          <p:cNvSpPr txBox="1"/>
          <p:nvPr>
            <p:ph idx="1" type="body"/>
          </p:nvPr>
        </p:nvSpPr>
        <p:spPr>
          <a:xfrm>
            <a:off x="1451579" y="2015732"/>
            <a:ext cx="9822778" cy="4034872"/>
          </a:xfrm>
          <a:prstGeom prst="rect">
            <a:avLst/>
          </a:prstGeom>
          <a:noFill/>
          <a:ln>
            <a:noFill/>
          </a:ln>
        </p:spPr>
        <p:txBody>
          <a:bodyPr anchorCtr="0" anchor="t" bIns="45700" lIns="91425" spcFirstLastPara="1" rIns="91425" wrap="square" tIns="45700">
            <a:normAutofit fontScale="77500" lnSpcReduction="20000"/>
          </a:bodyPr>
          <a:lstStyle/>
          <a:p>
            <a:pPr indent="-228632" lvl="0" marL="228600" rtl="0" algn="l">
              <a:lnSpc>
                <a:spcPct val="120000"/>
              </a:lnSpc>
              <a:spcBef>
                <a:spcPts val="0"/>
              </a:spcBef>
              <a:spcAft>
                <a:spcPts val="0"/>
              </a:spcAft>
              <a:buSzPct val="100000"/>
              <a:buChar char="•"/>
            </a:pPr>
            <a:r>
              <a:rPr lang="en-US" sz="2300"/>
              <a:t>Increase survey participation through follow-up reminders.</a:t>
            </a:r>
            <a:endParaRPr/>
          </a:p>
          <a:p>
            <a:pPr indent="-228632" lvl="0" marL="228600" rtl="0" algn="l">
              <a:lnSpc>
                <a:spcPct val="120000"/>
              </a:lnSpc>
              <a:spcBef>
                <a:spcPts val="1000"/>
              </a:spcBef>
              <a:spcAft>
                <a:spcPts val="0"/>
              </a:spcAft>
              <a:buSzPct val="100000"/>
              <a:buChar char="•"/>
            </a:pPr>
            <a:r>
              <a:rPr lang="en-US" sz="2300"/>
              <a:t>Investigate root causes of Billing Question contacts.</a:t>
            </a:r>
            <a:endParaRPr/>
          </a:p>
          <a:p>
            <a:pPr indent="-228632" lvl="0" marL="228600" rtl="0" algn="l">
              <a:lnSpc>
                <a:spcPct val="120000"/>
              </a:lnSpc>
              <a:spcBef>
                <a:spcPts val="1000"/>
              </a:spcBef>
              <a:spcAft>
                <a:spcPts val="0"/>
              </a:spcAft>
              <a:buSzPct val="100000"/>
              <a:buChar char="•"/>
            </a:pPr>
            <a:r>
              <a:rPr lang="en-US" sz="2300"/>
              <a:t>Focus service improvement initiatives on low-CSAT states.</a:t>
            </a:r>
            <a:endParaRPr/>
          </a:p>
          <a:p>
            <a:pPr indent="-228632" lvl="0" marL="228600" rtl="0" algn="l">
              <a:lnSpc>
                <a:spcPct val="120000"/>
              </a:lnSpc>
              <a:spcBef>
                <a:spcPts val="1000"/>
              </a:spcBef>
              <a:spcAft>
                <a:spcPts val="0"/>
              </a:spcAft>
              <a:buSzPct val="100000"/>
              <a:buChar char="•"/>
            </a:pPr>
            <a:r>
              <a:rPr lang="en-US" sz="2300"/>
              <a:t>Monitor sentiment trends proactively.</a:t>
            </a:r>
            <a:endParaRPr/>
          </a:p>
          <a:p>
            <a:pPr indent="-228632" lvl="0" marL="228600" rtl="0" algn="l">
              <a:lnSpc>
                <a:spcPct val="120000"/>
              </a:lnSpc>
              <a:spcBef>
                <a:spcPts val="1000"/>
              </a:spcBef>
              <a:spcAft>
                <a:spcPts val="0"/>
              </a:spcAft>
              <a:buSzPct val="100000"/>
              <a:buChar char="•"/>
            </a:pPr>
            <a:r>
              <a:rPr lang="en-US" sz="2300"/>
              <a:t>Regularly monitor channel-wise CSAT performance to identify underperforming service channels and optimize customer support operations.</a:t>
            </a:r>
            <a:endParaRPr/>
          </a:p>
          <a:p>
            <a:pPr indent="-228632" lvl="0" marL="228600" rtl="0" algn="l">
              <a:lnSpc>
                <a:spcPct val="120000"/>
              </a:lnSpc>
              <a:spcBef>
                <a:spcPts val="1000"/>
              </a:spcBef>
              <a:spcAft>
                <a:spcPts val="0"/>
              </a:spcAft>
              <a:buSzPct val="100000"/>
              <a:buChar char="•"/>
            </a:pPr>
            <a:r>
              <a:rPr lang="en-US" sz="2300"/>
              <a:t>Improve first-contact resolution and issue resolution quality to increase customer satisfaction.</a:t>
            </a:r>
            <a:endParaRPr/>
          </a:p>
          <a:p>
            <a:pPr indent="-228632" lvl="0" marL="228600" rtl="0" algn="l">
              <a:lnSpc>
                <a:spcPct val="120000"/>
              </a:lnSpc>
              <a:spcBef>
                <a:spcPts val="1000"/>
              </a:spcBef>
              <a:spcAft>
                <a:spcPts val="0"/>
              </a:spcAft>
              <a:buSzPct val="100000"/>
              <a:buChar char="•"/>
            </a:pPr>
            <a:r>
              <a:rPr lang="en-US" sz="2300"/>
              <a:t>Improve proactive communication during service outages to reduce the 33.58% negative sentiment.</a:t>
            </a:r>
            <a:endParaRPr/>
          </a:p>
          <a:p>
            <a:pPr indent="-228632" lvl="0" marL="228600" rtl="0" algn="l">
              <a:lnSpc>
                <a:spcPct val="120000"/>
              </a:lnSpc>
              <a:spcBef>
                <a:spcPts val="1000"/>
              </a:spcBef>
              <a:spcAft>
                <a:spcPts val="0"/>
              </a:spcAft>
              <a:buSzPct val="100000"/>
              <a:buChar char="•"/>
            </a:pPr>
            <a:r>
              <a:rPr lang="en-US" sz="2300"/>
              <a:t>Automate routine queries (e.g., password resets) with chatbots to cut down the 25-minute average call duration.</a:t>
            </a:r>
            <a:endParaRPr/>
          </a:p>
          <a:p>
            <a:pPr indent="-130175" lvl="0" marL="228600" rtl="0" algn="l">
              <a:lnSpc>
                <a:spcPct val="120000"/>
              </a:lnSpc>
              <a:spcBef>
                <a:spcPts val="1000"/>
              </a:spcBef>
              <a:spcAft>
                <a:spcPts val="0"/>
              </a:spcAft>
              <a:buSzPct val="1000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2"/>
          <p:cNvSpPr txBox="1"/>
          <p:nvPr>
            <p:ph type="title"/>
          </p:nvPr>
        </p:nvSpPr>
        <p:spPr>
          <a:xfrm>
            <a:off x="1451579" y="1215956"/>
            <a:ext cx="9603275" cy="63779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B3485"/>
              </a:buClr>
              <a:buSzPts val="2900"/>
              <a:buFont typeface="Gill Sans"/>
              <a:buNone/>
            </a:pPr>
            <a:r>
              <a:rPr lang="en-US" sz="2900" cap="none">
                <a:solidFill>
                  <a:srgbClr val="2B3485"/>
                </a:solidFill>
              </a:rPr>
              <a:t>Skills Demonstrated:</a:t>
            </a:r>
            <a:endParaRPr sz="2900"/>
          </a:p>
        </p:txBody>
      </p:sp>
      <p:sp>
        <p:nvSpPr>
          <p:cNvPr id="173" name="Google Shape;173;p12"/>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Data Cleaning &amp; Validation.</a:t>
            </a:r>
            <a:endParaRPr/>
          </a:p>
          <a:p>
            <a:pPr indent="-228600" lvl="0" marL="228600" rtl="0" algn="l">
              <a:lnSpc>
                <a:spcPct val="120000"/>
              </a:lnSpc>
              <a:spcBef>
                <a:spcPts val="1000"/>
              </a:spcBef>
              <a:spcAft>
                <a:spcPts val="0"/>
              </a:spcAft>
              <a:buSzPts val="2000"/>
              <a:buChar char="•"/>
            </a:pPr>
            <a:r>
              <a:rPr lang="en-US"/>
              <a:t>SQL Querying &amp; Business Analysis .</a:t>
            </a:r>
            <a:endParaRPr/>
          </a:p>
          <a:p>
            <a:pPr indent="-228600" lvl="0" marL="228600" rtl="0" algn="l">
              <a:lnSpc>
                <a:spcPct val="120000"/>
              </a:lnSpc>
              <a:spcBef>
                <a:spcPts val="1000"/>
              </a:spcBef>
              <a:spcAft>
                <a:spcPts val="0"/>
              </a:spcAft>
              <a:buSzPts val="2000"/>
              <a:buChar char="•"/>
            </a:pPr>
            <a:r>
              <a:rPr lang="en-US"/>
              <a:t>Power BI Dashboard Development. </a:t>
            </a:r>
            <a:endParaRPr/>
          </a:p>
          <a:p>
            <a:pPr indent="-228600" lvl="0" marL="228600" rtl="0" algn="l">
              <a:lnSpc>
                <a:spcPct val="120000"/>
              </a:lnSpc>
              <a:spcBef>
                <a:spcPts val="1000"/>
              </a:spcBef>
              <a:spcAft>
                <a:spcPts val="0"/>
              </a:spcAft>
              <a:buSzPts val="2000"/>
              <a:buChar char="•"/>
            </a:pPr>
            <a:r>
              <a:rPr lang="en-US"/>
              <a:t>DAX Measures &amp; KPIs.</a:t>
            </a:r>
            <a:endParaRPr/>
          </a:p>
          <a:p>
            <a:pPr indent="-228600" lvl="0" marL="228600" rtl="0" algn="l">
              <a:lnSpc>
                <a:spcPct val="120000"/>
              </a:lnSpc>
              <a:spcBef>
                <a:spcPts val="1000"/>
              </a:spcBef>
              <a:spcAft>
                <a:spcPts val="0"/>
              </a:spcAft>
              <a:buSzPts val="2000"/>
              <a:buChar char="•"/>
            </a:pPr>
            <a:r>
              <a:rPr lang="en-US"/>
              <a:t> Generated actionable business Insights and Recommendations</a:t>
            </a:r>
            <a:r>
              <a:rPr lang="en-US" sz="1800"/>
              <a:t>.</a:t>
            </a:r>
            <a:endParaRPr sz="1800"/>
          </a:p>
          <a:p>
            <a:pPr indent="0" lvl="0" marL="0" rtl="0" algn="l">
              <a:lnSpc>
                <a:spcPct val="120000"/>
              </a:lnSpc>
              <a:spcBef>
                <a:spcPts val="1000"/>
              </a:spcBef>
              <a:spcAft>
                <a:spcPts val="0"/>
              </a:spcAft>
              <a:buSzPts val="1900"/>
              <a:buNone/>
            </a:pPr>
            <a:r>
              <a:t/>
            </a:r>
            <a:endParaRPr sz="1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3"/>
          <p:cNvSpPr txBox="1"/>
          <p:nvPr/>
        </p:nvSpPr>
        <p:spPr>
          <a:xfrm>
            <a:off x="1819072" y="1147864"/>
            <a:ext cx="6147881"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2B3485"/>
                </a:solidFill>
                <a:latin typeface="Gill Sans"/>
                <a:ea typeface="Gill Sans"/>
                <a:cs typeface="Gill Sans"/>
                <a:sym typeface="Gill Sans"/>
              </a:rPr>
              <a:t>Conclusion:</a:t>
            </a:r>
            <a:endParaRPr b="1" sz="3200">
              <a:solidFill>
                <a:srgbClr val="2B3485"/>
              </a:solidFill>
              <a:latin typeface="Gill Sans"/>
              <a:ea typeface="Gill Sans"/>
              <a:cs typeface="Gill Sans"/>
              <a:sym typeface="Gill Sans"/>
            </a:endParaRPr>
          </a:p>
        </p:txBody>
      </p:sp>
      <p:sp>
        <p:nvSpPr>
          <p:cNvPr id="179" name="Google Shape;179;p13"/>
          <p:cNvSpPr txBox="1"/>
          <p:nvPr/>
        </p:nvSpPr>
        <p:spPr>
          <a:xfrm>
            <a:off x="2013625" y="1732639"/>
            <a:ext cx="8803532"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Gill Sans"/>
                <a:ea typeface="Gill Sans"/>
                <a:cs typeface="Gill Sans"/>
                <a:sym typeface="Gill Sans"/>
              </a:rPr>
              <a:t>The project successfully identified customer satisfaction drivers, survey participation patterns, and service performance opportunities.</a:t>
            </a:r>
            <a:endParaRPr/>
          </a:p>
          <a:p>
            <a:pPr indent="0" lvl="0" marL="0" marR="0" rtl="0" algn="l">
              <a:spcBef>
                <a:spcPts val="0"/>
              </a:spcBef>
              <a:spcAft>
                <a:spcPts val="0"/>
              </a:spcAft>
              <a:buNone/>
            </a:pPr>
            <a:r>
              <a:t/>
            </a:r>
            <a:endParaRPr sz="20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2000">
                <a:solidFill>
                  <a:schemeClr val="dk1"/>
                </a:solidFill>
                <a:latin typeface="Gill Sans"/>
                <a:ea typeface="Gill Sans"/>
                <a:cs typeface="Gill Sans"/>
                <a:sym typeface="Gill Sans"/>
              </a:rPr>
              <a:t>         The dashboard enables management to monitor customer experience and make data-driven decisions</a:t>
            </a:r>
            <a:r>
              <a:rPr lang="en-US" sz="1800">
                <a:solidFill>
                  <a:schemeClr val="dk1"/>
                </a:solidFill>
                <a:latin typeface="Gill Sans"/>
                <a:ea typeface="Gill Sans"/>
                <a:cs typeface="Gill Sans"/>
                <a:sym typeface="Gill Sans"/>
              </a:rPr>
              <a:t>.</a:t>
            </a:r>
            <a:endParaRPr sz="1800">
              <a:solidFill>
                <a:schemeClr val="dk1"/>
              </a:solidFill>
              <a:latin typeface="Gill Sans"/>
              <a:ea typeface="Gill Sans"/>
              <a:cs typeface="Gill Sans"/>
              <a:sym typeface="Gill Sans"/>
            </a:endParaRPr>
          </a:p>
        </p:txBody>
      </p:sp>
      <p:sp>
        <p:nvSpPr>
          <p:cNvPr id="180" name="Google Shape;180;p13"/>
          <p:cNvSpPr txBox="1"/>
          <p:nvPr/>
        </p:nvSpPr>
        <p:spPr>
          <a:xfrm>
            <a:off x="2217906" y="4591455"/>
            <a:ext cx="3521413"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rgbClr val="FF0000"/>
                </a:solidFill>
                <a:latin typeface="Gill Sans"/>
                <a:ea typeface="Gill Sans"/>
                <a:cs typeface="Gill Sans"/>
                <a:sym typeface="Gill Sans"/>
              </a:rPr>
              <a:t>Thank You…</a:t>
            </a:r>
            <a:endParaRPr sz="4000">
              <a:solidFill>
                <a:srgbClr val="FF0000"/>
              </a:solidFill>
              <a:latin typeface="Gill Sans"/>
              <a:ea typeface="Gill Sans"/>
              <a:cs typeface="Gill Sans"/>
              <a:sym typeface="Gill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2026-06-23T11:04:46Z</dcterms:created>
  <dc:creator>Aishwarya R</dc:creator>
</cp:coreProperties>
</file>